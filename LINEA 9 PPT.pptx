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aser Arabic Bold" charset="1" panose="00000800000000000000"/>
      <p:regular r:id="rId18"/>
    </p:embeddedFont>
    <p:embeddedFont>
      <p:font typeface="Montaser Arabic Semi-Bold" charset="1" panose="00000700000000000000"/>
      <p:regular r:id="rId19"/>
    </p:embeddedFont>
    <p:embeddedFont>
      <p:font typeface="Montaser Arabic" charset="1" panose="00000500000000000000"/>
      <p:regular r:id="rId20"/>
    </p:embeddedFont>
    <p:embeddedFont>
      <p:font typeface="Montaser Arabic Light" charset="1" panose="00000400000000000000"/>
      <p:regular r:id="rId21"/>
    </p:embeddedFont>
    <p:embeddedFont>
      <p:font typeface="Niconne" charset="1" panose="0200050505000002000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VAHUhfGsC1A.mp4" Type="http://schemas.openxmlformats.org/officeDocument/2006/relationships/video"/><Relationship Id="rId6" Target="../media/VAHUhfGsC1A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67676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LINEA 9</a:t>
            </a:r>
          </a:p>
        </p:txBody>
      </p:sp>
      <p:sp>
        <p:nvSpPr>
          <p:cNvPr name="AutoShape 3" id="3"/>
          <p:cNvSpPr/>
          <p:nvPr/>
        </p:nvSpPr>
        <p:spPr>
          <a:xfrm>
            <a:off x="3451673" y="22866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957523" y="6179470"/>
            <a:ext cx="10372954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Realizado por: 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Victor Arriagada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Martin Devia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Sebastian Jara</a:t>
            </a:r>
          </a:p>
          <a:p>
            <a:pPr algn="ctr">
              <a:lnSpc>
                <a:spcPts val="2559"/>
              </a:lnSpc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Emilio Yañez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Asignatura: Proyecto Capstone (PTY4624 - 001D)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Carrera: Ingeniería en Conectividad y Redes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Institución: Duoc UC — Sede San Joaquín</a:t>
            </a:r>
          </a:p>
          <a:p>
            <a:pPr algn="ctr" marL="460471" indent="-230235" lvl="1">
              <a:lnSpc>
                <a:spcPts val="2559"/>
              </a:lnSpc>
              <a:buFont typeface="Arial"/>
              <a:buChar char="•"/>
            </a:pPr>
            <a:r>
              <a:rPr lang="en-US" b="true" sz="2132" spc="14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Docente: Claudia Gabriela Reinoso Hurtado</a:t>
            </a:r>
          </a:p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295337" y="1735610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8"/>
                </a:lnTo>
                <a:lnTo>
                  <a:pt x="0" y="11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91849" y="1735610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8"/>
                </a:lnTo>
                <a:lnTo>
                  <a:pt x="0" y="11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94681" y="480633"/>
            <a:ext cx="5298639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20548"/>
            <a:ext cx="15765720" cy="895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01. Contexto y Problematíca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Descripcion del proyecto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03. Vinculo con el perfil de egreso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04. Relación con intereses profesionales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05. Factibilidad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06.Objetivos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07. Metodología 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08. Evidencias comprometidas — tabla con evidencias y tipo</a:t>
            </a:r>
          </a:p>
          <a:p>
            <a:pPr algn="just">
              <a:lnSpc>
                <a:spcPts val="5493"/>
              </a:lnSpc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09. Plan de trabajo y Carta Gantt —</a:t>
            </a:r>
          </a:p>
          <a:p>
            <a:pPr algn="l" marL="655223" indent="-327612" lvl="1">
              <a:lnSpc>
                <a:spcPts val="5493"/>
              </a:lnSpc>
              <a:buAutoNum type="arabicPeriod" startAt="1"/>
            </a:pPr>
            <a:r>
              <a:rPr lang="en-US" sz="3034" spc="3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Cierre — próximos pasos hacia Fase 2, y espacio para preguntas.</a:t>
            </a:r>
          </a:p>
          <a:p>
            <a:pPr algn="just">
              <a:lnSpc>
                <a:spcPts val="5493"/>
              </a:lnSpc>
            </a:pPr>
          </a:p>
          <a:p>
            <a:pPr algn="just">
              <a:lnSpc>
                <a:spcPts val="5493"/>
              </a:lnSpc>
            </a:pPr>
          </a:p>
          <a:p>
            <a:pPr algn="just">
              <a:lnSpc>
                <a:spcPts val="5493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591684" y="284404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26340" y="685033"/>
            <a:ext cx="11635320" cy="154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88"/>
              </a:lnSpc>
              <a:spcBef>
                <a:spcPct val="0"/>
              </a:spcBef>
            </a:pPr>
            <a:r>
              <a:rPr lang="en-US" b="true" sz="11688" spc="42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CONTENIDO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3733" y="2011476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7" y="0"/>
                </a:lnTo>
                <a:lnTo>
                  <a:pt x="865567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430" y="542158"/>
            <a:ext cx="17589725" cy="99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0"/>
              </a:lnSpc>
            </a:pPr>
            <a:r>
              <a:rPr lang="en-US" b="true" sz="708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CONTEXTO Y PROBLEMÁTICA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19038" y="1963851"/>
            <a:ext cx="14207478" cy="775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 u="sng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Línea 9 de Metro de Santiago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27 km subterráneos | 14 estaciones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Conectará el sector centro-sur de la Región Metropolitana.</a:t>
            </a:r>
          </a:p>
          <a:p>
            <a:pPr algn="l">
              <a:lnSpc>
                <a:spcPts val="3627"/>
              </a:lnSpc>
            </a:pP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 u="sng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Problema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profundidad &gt;25 metros y las estructuras de hormigón generan un efecto jaula de Faraday.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Atenuación de señal: 90–110 dB, provocando pérdida de conectividad.</a:t>
            </a:r>
          </a:p>
          <a:p>
            <a:pPr algn="l">
              <a:lnSpc>
                <a:spcPts val="3627"/>
              </a:lnSpc>
            </a:pP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 u="sng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Impacto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+1 millón de usuarios diarios potencialmente afectados.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Dificultad para: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Validar pasajes digitales y códigos QR.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Acceder a aplicaciones bancarias.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Realizar llamadas y enviar mensajes de emergencia.</a:t>
            </a:r>
          </a:p>
          <a:p>
            <a:pPr algn="l" marL="559485" indent="-279742" lvl="1">
              <a:lnSpc>
                <a:spcPts val="3627"/>
              </a:lnSpc>
              <a:buFont typeface="Arial"/>
              <a:buChar char="•"/>
            </a:pPr>
            <a:r>
              <a:rPr lang="en-US" sz="25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Utilizar datos móviles durante el trayecto.</a:t>
            </a:r>
          </a:p>
          <a:p>
            <a:pPr algn="just">
              <a:lnSpc>
                <a:spcPts val="3627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011476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7" y="0"/>
                </a:lnTo>
                <a:lnTo>
                  <a:pt x="865567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6769" y="808987"/>
            <a:ext cx="8608190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99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DESCRIPCIÓN DEL </a:t>
            </a:r>
          </a:p>
          <a:p>
            <a:pPr algn="l">
              <a:lnSpc>
                <a:spcPts val="7419"/>
              </a:lnSpc>
            </a:pPr>
            <a:r>
              <a:rPr lang="en-US" sz="699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PROYECTO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870482" y="-1325188"/>
            <a:ext cx="2646728" cy="12435691"/>
            <a:chOff x="0" y="0"/>
            <a:chExt cx="697081" cy="32752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7081" cy="3275244"/>
            </a:xfrm>
            <a:custGeom>
              <a:avLst/>
              <a:gdLst/>
              <a:ahLst/>
              <a:cxnLst/>
              <a:rect r="r" b="b" t="t" l="l"/>
              <a:pathLst>
                <a:path h="3275244" w="697081">
                  <a:moveTo>
                    <a:pt x="0" y="0"/>
                  </a:moveTo>
                  <a:lnTo>
                    <a:pt x="697081" y="0"/>
                  </a:lnTo>
                  <a:lnTo>
                    <a:pt x="697081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97081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6769" y="2895597"/>
            <a:ext cx="14674156" cy="61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613" indent="-296306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Qué es: Diseño de una infraestructura de telecomunicaciones subterránea de alta velocidad basada en Cable Radiante (Leaky Feeder), Sistemas de Antenas Distribuidas (DAS Activo), un backbone de Fibra Óptica OS2.</a:t>
            </a:r>
          </a:p>
          <a:p>
            <a:pPr algn="l">
              <a:lnSpc>
                <a:spcPts val="3842"/>
              </a:lnSpc>
            </a:pPr>
          </a:p>
          <a:p>
            <a:pPr algn="l" marL="592613" indent="-296306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 general resumido: Proporcionar conectividad continua 5G a lo largo de los 27 km de la Línea 9, garantizando sesiones ininterrumpidas a 80 km/h y aislando el tráfico público de los sistemas críticos del tren.</a:t>
            </a:r>
          </a:p>
          <a:p>
            <a:pPr algn="l">
              <a:lnSpc>
                <a:spcPts val="3842"/>
              </a:lnSpc>
            </a:pPr>
          </a:p>
          <a:p>
            <a:pPr algn="l" marL="592613" indent="-296306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 qué consiste abordarlo: Modelar e integrar radiofrecuencia confinada en túneles con una red de transporte óptico de 10G/40G de estándar industrial, resolviendo la conmutación de señal (handover) sin interferir con la señalización y control ferroviario.</a:t>
            </a:r>
          </a:p>
          <a:p>
            <a:pPr algn="l">
              <a:lnSpc>
                <a:spcPts val="310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77838" y="-1005934"/>
            <a:ext cx="2607960" cy="12435691"/>
            <a:chOff x="0" y="0"/>
            <a:chExt cx="686870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6870" cy="3275244"/>
            </a:xfrm>
            <a:custGeom>
              <a:avLst/>
              <a:gdLst/>
              <a:ahLst/>
              <a:cxnLst/>
              <a:rect r="r" b="b" t="t" l="l"/>
              <a:pathLst>
                <a:path h="3275244" w="686870">
                  <a:moveTo>
                    <a:pt x="0" y="0"/>
                  </a:moveTo>
                  <a:lnTo>
                    <a:pt x="686870" y="0"/>
                  </a:lnTo>
                  <a:lnTo>
                    <a:pt x="686870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6870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84515" y="2156665"/>
            <a:ext cx="15018547" cy="745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1: Diseñar arquitecturas de transporte y redes ópticas de alta capacidad y disponibilidad.</a:t>
            </a:r>
          </a:p>
          <a:p>
            <a:pPr algn="l">
              <a:lnSpc>
                <a:spcPts val="3337"/>
              </a:lnSpc>
            </a:pPr>
          </a:p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Infraestructura de Redes y Telecomunicaciones (Backbone de Fibra Óptica OS2 a 10G/40G en anillo redundante).</a:t>
            </a:r>
          </a:p>
          <a:p>
            <a:pPr algn="l">
              <a:lnSpc>
                <a:spcPts val="3337"/>
              </a:lnSpc>
            </a:pPr>
          </a:p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2: Planificar e implementar sistemas de radiofrecuencia y conectividad inalámbrica en entornos confinados o de alta complejidad.</a:t>
            </a:r>
          </a:p>
          <a:p>
            <a:pPr algn="l">
              <a:lnSpc>
                <a:spcPts val="3337"/>
              </a:lnSpc>
            </a:pPr>
          </a:p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Comunicaciones Inalámbricas y Móviles (DAS Activo multioperador y Cable Radiante para 4G/5G).</a:t>
            </a:r>
          </a:p>
          <a:p>
            <a:pPr algn="l">
              <a:lnSpc>
                <a:spcPts val="3337"/>
              </a:lnSpc>
            </a:pPr>
          </a:p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Competencia 3: Implementar esquemas de seguridad de red y segmentación de tráfico según estándares de la industria.</a:t>
            </a:r>
          </a:p>
          <a:p>
            <a:pPr algn="l">
              <a:lnSpc>
                <a:spcPts val="3337"/>
              </a:lnSpc>
            </a:pPr>
          </a:p>
          <a:p>
            <a:pPr algn="l" marL="514688" indent="-257344" lvl="1">
              <a:lnSpc>
                <a:spcPts val="3337"/>
              </a:lnSpc>
              <a:buFont typeface="Arial"/>
              <a:buChar char="•"/>
            </a:pPr>
            <a:r>
              <a:rPr lang="en-US" sz="2383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Área de desempeño: Ciberseguridad y Redes Industriales (Aislamiento físico y lógico de redes públicas IT respecto a redes críticas de tracción/control OT bajo IEC 62443).</a:t>
            </a:r>
          </a:p>
          <a:p>
            <a:pPr algn="just">
              <a:lnSpc>
                <a:spcPts val="333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84938" y="802816"/>
            <a:ext cx="14118123" cy="97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4"/>
              </a:lnSpc>
              <a:spcBef>
                <a:spcPct val="0"/>
              </a:spcBef>
            </a:pPr>
            <a:r>
              <a:rPr lang="en-US" b="true" sz="566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VÍNCULO CON EL PERFIL DE EGRESO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1377" y="593593"/>
            <a:ext cx="11242433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¿Por qué este proyecto?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Desafío real: Telecomunicaciones aplicadas al transporte masivo subterráneo.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Especialización: Neutral Host, RF subterránea y redes de misión crítica.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Proyección profesional: Competencias aplicables en minería, túneles y transporte publico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9967" y="342133"/>
            <a:ext cx="9389386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RELACIÓN CON INTERESES PROFESIONALES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9967" y="3819098"/>
            <a:ext cx="14656527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Recursos y Tiempo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16 semanas para formulación, modelamiento y validación.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Recursos: Software de simulación, fichas técnicas de fabricantes y documentación de Metro.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Factores Externos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-Facilitadores: Estándares 5G y documentación técnica disponible.</a:t>
            </a:r>
          </a:p>
          <a:p>
            <a:pPr algn="l">
              <a:lnSpc>
                <a:spcPts val="3359"/>
              </a:lnSpc>
            </a:pPr>
            <a:r>
              <a:rPr lang="en-US" sz="2400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-Dificultador: Sin mediciones en terreno; se utilizará modelamiento y parámetros de atenuación.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835891" y="2441907"/>
          <a:ext cx="8616218" cy="6734743"/>
        </p:xfrm>
        <a:graphic>
          <a:graphicData uri="http://schemas.openxmlformats.org/drawingml/2006/table">
            <a:tbl>
              <a:tblPr/>
              <a:tblGrid>
                <a:gridCol w="2872073"/>
                <a:gridCol w="2872073"/>
                <a:gridCol w="2872073"/>
              </a:tblGrid>
              <a:tr h="11865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MITIGACIÓN TÉCNICA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2918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Pérdida de potencia RF por curvaturas y longitud de túnel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A</a:t>
                      </a: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Cálculo estricto de Link Budget, selección de cable radiante de bajas pérdidas (1-1/4") e inserción de amplificadores de línea bidireccionales.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7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Interferencia con sistemas críticos de Metro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Crítico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Separación física de hilos de fibra óptica (fibra oscura exclusiva para OT) y segmentación por VRF/VLAN sin ruteo hacia la red CBTC.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244599" y="652108"/>
            <a:ext cx="13637306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FACTIBILIDAD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6868" t="0" r="10707" b="0"/>
          <a:stretch>
            <a:fillRect/>
          </a:stretch>
        </p:blipFill>
        <p:spPr>
          <a:xfrm flipH="false" flipV="false" rot="0">
            <a:off x="11216202" y="2913491"/>
            <a:ext cx="6535294" cy="446001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35766" y="535305"/>
            <a:ext cx="7608234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b="true" sz="69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943" y="2147804"/>
            <a:ext cx="10408110" cy="698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 General:</a:t>
            </a: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Diseñar una arquitectura integral de telecomunicaciones subterránea para los 27 km de la Línea 9, combinando 5G, y fibra óptica, con conectividad continua a 80 km/h y aislamiento de la red operativa.</a:t>
            </a:r>
          </a:p>
          <a:p>
            <a:pPr algn="l">
              <a:lnSpc>
                <a:spcPts val="3472"/>
              </a:lnSpc>
            </a:pP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Objetivos Específicos:</a:t>
            </a: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Cobertura 4G/5G: Dimensionar el Cable Radiante para cobertura Radio Frecuencia multi-operador y handover continuo en túneles.</a:t>
            </a: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Conectividad en estaciones: Diseñar DAS Activo.</a:t>
            </a:r>
          </a:p>
          <a:p>
            <a:pPr algn="l">
              <a:lnSpc>
                <a:spcPts val="3472"/>
              </a:lnSpc>
            </a:pP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Backbone de fibra: Implementar fibra OS2 a 10/40G mediante doble anillo redundante, conectando las 14 estaciones.</a:t>
            </a:r>
          </a:p>
          <a:p>
            <a:pPr algn="l">
              <a:lnSpc>
                <a:spcPts val="3472"/>
              </a:lnSpc>
            </a:pPr>
            <a:r>
              <a:rPr lang="en-US" sz="2480" spc="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Ciberseguridad: Segmentar IT/OT y establecer controles para proteger tracción, señalización y control de trenes.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0063" y="-735305"/>
            <a:ext cx="5099886" cy="12435691"/>
            <a:chOff x="0" y="0"/>
            <a:chExt cx="1343180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180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43180">
                  <a:moveTo>
                    <a:pt x="0" y="0"/>
                  </a:moveTo>
                  <a:lnTo>
                    <a:pt x="1343180" y="0"/>
                  </a:lnTo>
                  <a:lnTo>
                    <a:pt x="1343180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43180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2925" y="646377"/>
            <a:ext cx="7266506" cy="120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 spc="23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METODOLOGIA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36179" y="2891823"/>
            <a:ext cx="7491889" cy="511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 u="sng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Roles y Responsabilidades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Redes IP: Backbone de fibra OS2, switches, anillo y QoS.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RF Subterránea: Cobertura 4G/5G, atenuación, presupuesto RF, Leaky Feeder y DAS.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Ciberseguridad: Segmentación OT/IT, protección de redes críticas e IEC 62443.</a:t>
            </a:r>
          </a:p>
          <a:p>
            <a:pPr algn="l">
              <a:lnSpc>
                <a:spcPts val="3408"/>
              </a:lnSpc>
            </a:pPr>
          </a:p>
          <a:p>
            <a:pPr algn="just">
              <a:lnSpc>
                <a:spcPts val="3408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947993" y="2891823"/>
            <a:ext cx="7679213" cy="53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339" u="sng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Etapas de Trabajo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275"/>
              </a:lnSpc>
            </a:pPr>
            <a:r>
              <a:rPr lang="en-US" sz="233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Diagnóstico: Análisis del trazado, profundidad, atenuación y demanda de tráfico.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275"/>
              </a:lnSpc>
            </a:pPr>
            <a:r>
              <a:rPr lang="en-US" sz="233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Ingeniería RF:  Calculo de ganancias y perdidas, DAS y diseño de cable radiante.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275"/>
              </a:lnSpc>
            </a:pPr>
            <a:r>
              <a:rPr lang="en-US" sz="233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Arquitectura de Red: Fibra OS2, atenuación óptica, IP y QoS.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275"/>
              </a:lnSpc>
            </a:pPr>
            <a:r>
              <a:rPr lang="en-US" sz="233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Seguridad e Integración: Aislamiento OT/IT y redundancia de la red.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4721" y="10008002"/>
            <a:ext cx="21215185" cy="3017688"/>
            <a:chOff x="0" y="0"/>
            <a:chExt cx="5587539" cy="794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7538" cy="794782"/>
            </a:xfrm>
            <a:custGeom>
              <a:avLst/>
              <a:gdLst/>
              <a:ahLst/>
              <a:cxnLst/>
              <a:rect r="r" b="b" t="t" l="l"/>
              <a:pathLst>
                <a:path h="794782" w="5587538">
                  <a:moveTo>
                    <a:pt x="0" y="0"/>
                  </a:moveTo>
                  <a:lnTo>
                    <a:pt x="5587538" y="0"/>
                  </a:lnTo>
                  <a:lnTo>
                    <a:pt x="5587538" y="794782"/>
                  </a:lnTo>
                  <a:lnTo>
                    <a:pt x="0" y="794782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587539" cy="82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93808" y="6242497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6"/>
                </a:lnTo>
                <a:lnTo>
                  <a:pt x="0" y="691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93808" y="7327283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5"/>
                </a:lnTo>
                <a:lnTo>
                  <a:pt x="0" y="69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60483" y="5329504"/>
            <a:ext cx="491286" cy="506955"/>
          </a:xfrm>
          <a:custGeom>
            <a:avLst/>
            <a:gdLst/>
            <a:ahLst/>
            <a:cxnLst/>
            <a:rect r="r" b="b" t="t" l="l"/>
            <a:pathLst>
              <a:path h="506955" w="491286">
                <a:moveTo>
                  <a:pt x="0" y="0"/>
                </a:moveTo>
                <a:lnTo>
                  <a:pt x="491286" y="0"/>
                </a:lnTo>
                <a:lnTo>
                  <a:pt x="491286" y="506955"/>
                </a:lnTo>
                <a:lnTo>
                  <a:pt x="0" y="50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486400" y="1626695"/>
          <a:ext cx="7315200" cy="81153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39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EVIDENCIA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TIPO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 b="true">
                          <a:solidFill>
                            <a:srgbClr val="000000"/>
                          </a:solidFill>
                          <a:latin typeface="Montaser Arabic Bold"/>
                          <a:ea typeface="Montaser Arabic Bold"/>
                          <a:cs typeface="Montaser Arabic Bold"/>
                          <a:sym typeface="Montaser Arabic Bold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579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Informe Técnico de Arquitectura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Documento escrito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Memoria descriptiva con especificaciones de fibra, DAS y cable radiante.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Topología y Diagrama de 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Esquema técnico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Planos de topología lógica y física del backbone en anillo y distribución en estación.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Memoria de Cálculo de Enlaces (RF y Óptico)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Archivo de cálculo / Hoja técnica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Presupuesto de potencia óptica (loss budget) y balance de enlace RF subterráneo en dB.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74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Matriz de Segmentación de Red (OT/IT)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Matriz de 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28"/>
                        </a:lnSpc>
                        <a:defRPr/>
                      </a:pPr>
                      <a:r>
                        <a:rPr lang="en-US" sz="1448">
                          <a:solidFill>
                            <a:srgbClr val="FFFFFF"/>
                          </a:solidFill>
                          <a:latin typeface="Montaser Arabic"/>
                          <a:ea typeface="Montaser Arabic"/>
                          <a:cs typeface="Montaser Arabic"/>
                          <a:sym typeface="Montaser Arabic"/>
                        </a:rPr>
                        <a:t>Tabla de asignación de VLANs, VRFs y reglas de aislamiento conforme a IEC 62443.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323905" y="351038"/>
            <a:ext cx="1564019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b="true" sz="660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EVIDENCIAS COMPROMETIDAS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53583" y="670885"/>
            <a:ext cx="14530322" cy="8945229"/>
          </a:xfrm>
          <a:custGeom>
            <a:avLst/>
            <a:gdLst/>
            <a:ahLst/>
            <a:cxnLst/>
            <a:rect r="r" b="b" t="t" l="l"/>
            <a:pathLst>
              <a:path h="8945229" w="14530322">
                <a:moveTo>
                  <a:pt x="0" y="0"/>
                </a:moveTo>
                <a:lnTo>
                  <a:pt x="14530322" y="0"/>
                </a:lnTo>
                <a:lnTo>
                  <a:pt x="14530322" y="8945230"/>
                </a:lnTo>
                <a:lnTo>
                  <a:pt x="0" y="894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8371" y="391375"/>
            <a:ext cx="9443333" cy="85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6"/>
              </a:lnSpc>
            </a:pPr>
            <a:r>
              <a:rPr lang="en-US" b="true" sz="620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CARTA GANTT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95862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51673" y="2796256"/>
            <a:ext cx="11384653" cy="196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5"/>
              </a:lnSpc>
              <a:spcBef>
                <a:spcPct val="0"/>
              </a:spcBef>
            </a:pPr>
            <a:r>
              <a:rPr lang="en-US" sz="14845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Muchas</a:t>
            </a: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DAHT6GJU7t0</dc:identifier>
  <dcterms:modified xsi:type="dcterms:W3CDTF">2011-08-01T06:04:30Z</dcterms:modified>
  <cp:revision>1</cp:revision>
  <dc:title>Presentación Diapositivas Proyecto Creativo Minimalista Negro y Morado</dc:title>
</cp:coreProperties>
</file>