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73E4D32-8542-4602-A650-CACE3B8C5464}">
  <a:tblStyle styleId="{373E4D32-8542-4602-A650-CACE3B8C5464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8" name="Google Shape;118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Slide 2. Cinco entregables ligados a los tres hitos de la docente, cada uno con su criterio de aceptación medible y su fecha. Abajo, los ajustes hechos al proyecto desde la Fase 1 con su justificación, y los obstáculos y cambios que hemos enfrentado.</a:t>
            </a:r>
            <a:endParaRPr/>
          </a:p>
        </p:txBody>
      </p:sp>
      <p:sp>
        <p:nvSpPr>
          <p:cNvPr id="119" name="Google Shape;119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5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1" name="Google Shape;141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Slide 3. Escenario simulado: el stack completo de Enci-Intel y Enci-Ventas con Docker Compose (9 contenedores). Tres pruebas con el formato prueba → esperado → obtenido; reemplazar cada recuadro punteado por la captura real. Al cierre, lo que falta simular: la medición del Tiempo de Respuesta Competitiva de punta a punta y el levantamiento completo con un solo comando.</a:t>
            </a:r>
            <a:endParaRPr/>
          </a:p>
        </p:txBody>
      </p:sp>
      <p:sp>
        <p:nvSpPr>
          <p:cNvPr id="142" name="Google Shape;142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Relationship Id="rId4" Type="http://schemas.openxmlformats.org/officeDocument/2006/relationships/image" Target="../media/image3.png"/><Relationship Id="rId5" Type="http://schemas.openxmlformats.org/officeDocument/2006/relationships/hyperlink" Target="http://drive.google.com/file/d/16iuYEuNa56udtXWcmo5XjBpb64VPV4L0/view" TargetMode="External"/><Relationship Id="rId6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050"/>
              <a:buFont typeface="Calibri"/>
              <a:buNone/>
            </a:pPr>
            <a:r>
              <a:rPr b="1" i="0" lang="en-US" spc="300" sz="105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01 · AVANCE TÉCNICO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3"/>
          <p:cNvSpPr txBox="1"/>
          <p:nvPr/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D5C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0B3D5C"/>
                </a:solidFill>
                <a:latin typeface="Cambria"/>
                <a:ea typeface="Cambria"/>
                <a:cs typeface="Cambria"/>
                <a:sym typeface="Cambria"/>
              </a:rPr>
              <a:t>Tareas técnicas y estado de avance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3"/>
          <p:cNvSpPr txBox="1"/>
          <p:nvPr/>
        </p:nvSpPr>
        <p:spPr>
          <a:xfrm>
            <a:off x="317650" y="6547095"/>
            <a:ext cx="3657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" name="Google Shape;15;p3"/>
          <p:cNvGraphicFramePr/>
          <p:nvPr/>
        </p:nvGraphicFramePr>
        <p:xfrm>
          <a:off x="520800" y="99224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{373E4D32-8542-4602-A650-CACE3B8C5464}</a:tableStyleId>
              </a:tblPr>
              <a:tblGrid>
                <a:gridCol w="3242900"/>
                <a:gridCol w="1157350"/>
                <a:gridCol w="1037800"/>
                <a:gridCol w="1037800"/>
                <a:gridCol w="581150"/>
                <a:gridCol w="788725"/>
                <a:gridCol w="3428850"/>
              </a:tblGrid>
              <a:tr h="237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Tarea técnica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Responsable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N° De Semana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Fecha planificada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% avance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Estado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Evidencia asociada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3D5C"/>
                    </a:solidFill>
                  </a:tcPr>
                </a:tc>
              </a:tr>
              <a:tr h="182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7293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US" sz="800">
                          <a:solidFill>
                            <a:srgbClr val="0B3D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Definición del problema, alcance del proyecto y objetivos del estudio de cobertura 5G Neutral Host para Línea 9. </a:t>
                      </a:r>
                      <a:endParaRPr b="1" sz="800" u="none" cap="none" strike="noStrike">
                        <a:solidFill>
                          <a:srgbClr val="0B3D5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242E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US" sz="800">
                          <a:solidFill>
                            <a:srgbClr val="0B3D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Todo el equipo</a:t>
                      </a:r>
                      <a:endParaRPr b="1" sz="800" u="none" cap="none" strike="noStrike">
                        <a:solidFill>
                          <a:srgbClr val="0B3D5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1 - 2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242E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10/08 - 23/08/2026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3D5C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0B3D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100%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7293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1C729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Completada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0B3D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Minuta de inicio de proyecto y Documento de Definición de Alcance. </a:t>
                      </a:r>
                      <a:endParaRPr sz="800">
                        <a:solidFill>
                          <a:srgbClr val="0B3D5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82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7293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US" sz="800">
                          <a:solidFill>
                            <a:srgbClr val="0B3D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Levantamiento de requisitos técnicos, estándar DAS/Small Cells subterráneo y análisis del entorno regulatorio/normativo (Subtel, Metro). </a:t>
                      </a:r>
                      <a:endParaRPr b="1" sz="800" u="none" cap="none" strike="noStrike">
                        <a:solidFill>
                          <a:srgbClr val="0B3D5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242E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US" sz="800">
                          <a:solidFill>
                            <a:srgbClr val="0B3D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Martin Devia</a:t>
                      </a:r>
                      <a:endParaRPr b="1" sz="800" u="none" cap="none" strike="noStrike">
                        <a:solidFill>
                          <a:srgbClr val="0B3D5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3 - 4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242E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24/08 - 06/09/2026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3D5C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0B3D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100%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7293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1C729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Completada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0B3D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Cuadro comparativo de modelos de despliegue y matriz de beneficios. </a:t>
                      </a:r>
                      <a:endParaRPr sz="800">
                        <a:solidFill>
                          <a:srgbClr val="0B3D5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6"/>
                    </a:solidFill>
                  </a:tcPr>
                </a:tc>
              </a:tr>
              <a:tr h="182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7293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US" sz="800">
                          <a:solidFill>
                            <a:srgbClr val="0B3D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Definición de la metodología de trabajo e hitos entregables del proyecto Capstone. </a:t>
                      </a:r>
                      <a:endParaRPr b="1" sz="800" u="none" cap="none" strike="noStrike">
                        <a:solidFill>
                          <a:srgbClr val="0B3D5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242E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US" sz="800">
                          <a:solidFill>
                            <a:srgbClr val="0B3D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Sebastian Jara</a:t>
                      </a:r>
                      <a:endParaRPr b="1" sz="800" u="none" cap="none" strike="noStrike">
                        <a:solidFill>
                          <a:srgbClr val="0B3D5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242E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07/09 - 13/09/2026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3D5C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0B3D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100%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7293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1C729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Completada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0B3D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Levantamiento de requisitos técnicos de cobertura, bandas de frecuencia 5G (n78 - 3.5 GHz) y normativas Subtel/Metro </a:t>
                      </a:r>
                      <a:endParaRPr sz="800">
                        <a:solidFill>
                          <a:srgbClr val="0B3D5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82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7293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US" sz="800">
                          <a:solidFill>
                            <a:srgbClr val="0B3D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Diseño de la arquitectura lógica y topología de red (Neutral Host, fibra óptica, salas MPOE, integración multi-operador). </a:t>
                      </a:r>
                      <a:endParaRPr b="1" sz="800" u="none" cap="none" strike="noStrike">
                        <a:solidFill>
                          <a:srgbClr val="0B3D5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242E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US" sz="800">
                          <a:solidFill>
                            <a:srgbClr val="0B3D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Victor Arriagada</a:t>
                      </a:r>
                      <a:endParaRPr b="1" sz="800" u="none" cap="none" strike="noStrike">
                        <a:solidFill>
                          <a:srgbClr val="0B3D5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6 - 7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242E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14/09 - 27/09/2026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3D5C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0B3D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100%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7293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1C729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Completada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0B3D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Diseño de la topología lógica Neutral Host, integración de C-RAN y aislamiento seguro mediante VLANs dedicadas para tráfico de pasajeros vs. CBTC de Metro. </a:t>
                      </a:r>
                      <a:endParaRPr sz="800">
                        <a:solidFill>
                          <a:srgbClr val="0B3D5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6"/>
                    </a:solidFill>
                  </a:tcPr>
                </a:tc>
              </a:tr>
              <a:tr h="182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7293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US" sz="800">
                          <a:solidFill>
                            <a:srgbClr val="0B3D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Dimensionamiento de equipos (RF DAS, unidades remotas/maestras, switching/routing) y cálculos de enlace/cobertura subterránea. </a:t>
                      </a:r>
                      <a:endParaRPr b="1" sz="800" u="none" cap="none" strike="noStrike">
                        <a:solidFill>
                          <a:srgbClr val="0B3D5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242E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US" sz="800">
                          <a:solidFill>
                            <a:srgbClr val="0B3D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Victor y Martin</a:t>
                      </a:r>
                      <a:endParaRPr b="1" sz="800" u="none" cap="none" strike="noStrike">
                        <a:solidFill>
                          <a:srgbClr val="0B3D5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1724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8 - 9</a:t>
                      </a:r>
                      <a:endParaRPr sz="800" u="none" cap="none" strike="noStrike">
                        <a:solidFill>
                          <a:srgbClr val="17242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242E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28/09 - 11/10/2026</a:t>
                      </a:r>
                      <a:endParaRPr sz="800">
                        <a:solidFill>
                          <a:srgbClr val="17242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3D5C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US" sz="800">
                          <a:solidFill>
                            <a:srgbClr val="0B3D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r>
                        <a:rPr b="1" lang="en-US" sz="800" u="none" cap="none" strike="noStrike">
                          <a:solidFill>
                            <a:srgbClr val="0B3D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0%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A5A00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US" sz="800">
                          <a:solidFill>
                            <a:srgbClr val="8A5A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Ejecución</a:t>
                      </a:r>
                      <a:endParaRPr b="1" sz="800">
                        <a:solidFill>
                          <a:srgbClr val="1C729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0B3D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Memoria de Cálculo de Propagación y Balance de Enlace RF. </a:t>
                      </a:r>
                      <a:endParaRPr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82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7293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US" sz="800">
                          <a:solidFill>
                            <a:srgbClr val="0B3D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Elaboración del modelo de costos (CAPEX/OPEX), estimación presupuestaria y evaluación de factibilidad económica de la propuesta. </a:t>
                      </a:r>
                      <a:endParaRPr b="1" sz="800" u="none" cap="none" strike="noStrike">
                        <a:solidFill>
                          <a:srgbClr val="0B3D5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242E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US" sz="800">
                          <a:solidFill>
                            <a:srgbClr val="0B3D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Emilio Yañez </a:t>
                      </a:r>
                      <a:endParaRPr b="1" sz="800" u="none" cap="none" strike="noStrike">
                        <a:solidFill>
                          <a:srgbClr val="0B3D5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1724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10 - 11</a:t>
                      </a:r>
                      <a:endParaRPr sz="800" u="none" cap="none" strike="noStrike">
                        <a:solidFill>
                          <a:srgbClr val="17242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242E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12/10 - 25/10/2026</a:t>
                      </a:r>
                      <a:endParaRPr sz="800">
                        <a:solidFill>
                          <a:srgbClr val="17242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3D5C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US" sz="800">
                          <a:solidFill>
                            <a:srgbClr val="0B3D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r>
                        <a:rPr b="1" lang="en-US" sz="800" u="none" cap="none" strike="noStrike">
                          <a:solidFill>
                            <a:srgbClr val="0B3D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0%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A5A00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US" sz="800">
                          <a:solidFill>
                            <a:srgbClr val="8A5A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Ejecución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0B3D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Borrador del Modelo Financiero CAPEX y Cuadro de Ahorro por Upgrade. </a:t>
                      </a:r>
                      <a:endParaRPr sz="800">
                        <a:solidFill>
                          <a:srgbClr val="0B3D5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6"/>
                    </a:solidFill>
                  </a:tcPr>
                </a:tc>
              </a:tr>
              <a:tr h="182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7293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US" sz="800">
                          <a:solidFill>
                            <a:srgbClr val="0B3D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Integración de propuestas técnicas y económicas en el borrador consolidado. </a:t>
                      </a:r>
                      <a:endParaRPr b="1" sz="800" u="none" cap="none" strike="noStrike">
                        <a:solidFill>
                          <a:srgbClr val="0B3D5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242E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US" sz="800">
                          <a:solidFill>
                            <a:srgbClr val="0B3D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Emilio Yañez</a:t>
                      </a:r>
                      <a:endParaRPr b="1" sz="800" u="none" cap="none" strike="noStrike">
                        <a:solidFill>
                          <a:srgbClr val="0B3D5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1724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</a:t>
                      </a:r>
                      <a:endParaRPr sz="800" u="none" cap="none" strike="noStrike">
                        <a:solidFill>
                          <a:srgbClr val="17242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242E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26/10 - 01/11/2026</a:t>
                      </a:r>
                      <a:endParaRPr sz="800">
                        <a:solidFill>
                          <a:srgbClr val="17242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3D5C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0B3D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0%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A5A00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US" sz="800">
                          <a:solidFill>
                            <a:srgbClr val="8A5A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 tiempo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0B3D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Entrega del Informe Integrado Hito 2 (Propuesta Técnica y Económica). </a:t>
                      </a:r>
                      <a:endParaRPr sz="800">
                        <a:solidFill>
                          <a:srgbClr val="0B3D5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82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7293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US" sz="800">
                          <a:solidFill>
                            <a:srgbClr val="0B3D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Simulación/Validación conceptual de la solución y revisión de análisis de riesgos. </a:t>
                      </a:r>
                      <a:endParaRPr b="1" sz="800" u="none" cap="none" strike="noStrike">
                        <a:solidFill>
                          <a:srgbClr val="0B3D5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242E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US" sz="800">
                          <a:solidFill>
                            <a:srgbClr val="0B3D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Sebastian Jara</a:t>
                      </a:r>
                      <a:endParaRPr b="1" sz="800" u="none" cap="none" strike="noStrike">
                        <a:solidFill>
                          <a:srgbClr val="0B3D5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1724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13 - 14</a:t>
                      </a:r>
                      <a:endParaRPr sz="800" u="none" cap="none" strike="noStrike">
                        <a:solidFill>
                          <a:srgbClr val="17242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242E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02/11 - 15/11/2026</a:t>
                      </a:r>
                      <a:endParaRPr sz="800">
                        <a:solidFill>
                          <a:srgbClr val="17242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3D5C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US" sz="800">
                          <a:solidFill>
                            <a:srgbClr val="0B3D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0%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A5A00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US" sz="800">
                          <a:solidFill>
                            <a:srgbClr val="8A5A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 tiempo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242E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Matriz de SLA y Plan de Continuidad Operativa. 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6"/>
                    </a:solidFill>
                  </a:tcPr>
                </a:tc>
              </a:tr>
              <a:tr h="182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7293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US" sz="800">
                          <a:solidFill>
                            <a:srgbClr val="0B3D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Finalización y pulido de la documentación técnica final del proyecto Capstone. </a:t>
                      </a:r>
                      <a:endParaRPr b="1" sz="800" u="none" cap="none" strike="noStrike">
                        <a:solidFill>
                          <a:srgbClr val="0B3D5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242E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US" sz="800">
                          <a:solidFill>
                            <a:srgbClr val="0B3D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Todo el equipo</a:t>
                      </a:r>
                      <a:endParaRPr b="1" sz="800" u="none" cap="none" strike="noStrike">
                        <a:solidFill>
                          <a:srgbClr val="0B3D5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1724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</a:t>
                      </a:r>
                      <a:endParaRPr sz="800" u="none" cap="none" strike="noStrike">
                        <a:solidFill>
                          <a:srgbClr val="17242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242E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16/11 - 22/11/2026</a:t>
                      </a:r>
                      <a:endParaRPr sz="800">
                        <a:solidFill>
                          <a:srgbClr val="17242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3D5C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US" sz="800">
                          <a:solidFill>
                            <a:srgbClr val="0B3D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0%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A5A00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US" sz="800">
                          <a:solidFill>
                            <a:srgbClr val="8A5A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 tiempo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242E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Borrador Final del Documento de Título (Informe Capstone). 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82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7293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US" sz="800">
                          <a:solidFill>
                            <a:srgbClr val="0B3D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Preparación del material de presentación, diapositivas y </a:t>
                      </a:r>
                      <a:r>
                        <a:rPr b="1" lang="en-US" sz="800">
                          <a:solidFill>
                            <a:srgbClr val="0B3D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guión</a:t>
                      </a:r>
                      <a:r>
                        <a:rPr b="1" lang="en-US" sz="800">
                          <a:solidFill>
                            <a:srgbClr val="0B3D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de defensa. </a:t>
                      </a:r>
                      <a:endParaRPr b="1" sz="800" u="none" cap="none" strike="noStrike">
                        <a:solidFill>
                          <a:srgbClr val="0B3D5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242E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US" sz="800">
                          <a:solidFill>
                            <a:srgbClr val="0B3D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Todo el equipo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1724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</a:t>
                      </a:r>
                      <a:endParaRPr sz="800" u="none" cap="none" strike="noStrike">
                        <a:solidFill>
                          <a:srgbClr val="17242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242E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23/11 - 29/11/2026</a:t>
                      </a:r>
                      <a:endParaRPr sz="800">
                        <a:solidFill>
                          <a:srgbClr val="17242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3D5C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0B3D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0%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A5A00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8A5A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 tiempo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242E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Diapositivas de Presentación.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6"/>
                    </a:solidFill>
                  </a:tcPr>
                </a:tc>
              </a:tr>
              <a:tr h="182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7293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US" sz="800">
                          <a:solidFill>
                            <a:srgbClr val="0B3D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Defensa final del proyecto de título ante la comisión evaluadora </a:t>
                      </a:r>
                      <a:endParaRPr b="1" sz="800" u="none" cap="none" strike="noStrike">
                        <a:solidFill>
                          <a:srgbClr val="0B3D5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242E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US" sz="800">
                          <a:solidFill>
                            <a:srgbClr val="0B3D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Todo el equipo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1724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</a:t>
                      </a:r>
                      <a:endParaRPr sz="800" u="none" cap="none" strike="noStrike">
                        <a:solidFill>
                          <a:srgbClr val="17242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242E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30/11 - 06/12/2026</a:t>
                      </a:r>
                      <a:endParaRPr sz="800">
                        <a:solidFill>
                          <a:srgbClr val="17242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3D5C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0B3D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0%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A5A00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8A5A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 tiempo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242E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Proyecto final Capstone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Google Shape;16;p3"/>
          <p:cNvSpPr txBox="1"/>
          <p:nvPr/>
        </p:nvSpPr>
        <p:spPr>
          <a:xfrm>
            <a:off x="10817352" y="644652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 txBox="1"/>
          <p:nvPr/>
        </p:nvSpPr>
        <p:spPr>
          <a:xfrm>
            <a:off x="387875" y="4140596"/>
            <a:ext cx="21489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700"/>
              <a:buFont typeface="Calibri"/>
              <a:buNone/>
            </a:pPr>
            <a:r>
              <a:rPr b="1" i="0" lang="en-US" spc="100" sz="7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CARTA GANTT (REDUCIDA)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2577865" y="4049958"/>
            <a:ext cx="306300" cy="246900"/>
          </a:xfrm>
          <a:prstGeom prst="rect">
            <a:avLst/>
          </a:prstGeom>
          <a:solidFill>
            <a:srgbClr val="0B3D5C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 txBox="1"/>
          <p:nvPr/>
        </p:nvSpPr>
        <p:spPr>
          <a:xfrm>
            <a:off x="2577865" y="4049958"/>
            <a:ext cx="3063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"/>
              <a:buFont typeface="Calibri"/>
              <a:buNone/>
            </a:pPr>
            <a:r>
              <a:rPr b="1" lang="en-US" sz="5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S1</a:t>
            </a:r>
            <a:endParaRPr sz="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"/>
              <a:buFont typeface="Calibri"/>
              <a:buNone/>
            </a:pPr>
            <a:r>
              <a:rPr lang="en-US" sz="5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10/08</a:t>
            </a:r>
            <a:endParaRPr sz="55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2884189" y="4049958"/>
            <a:ext cx="306300" cy="246900"/>
          </a:xfrm>
          <a:prstGeom prst="rect">
            <a:avLst/>
          </a:prstGeom>
          <a:solidFill>
            <a:srgbClr val="0B3D5C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 txBox="1"/>
          <p:nvPr/>
        </p:nvSpPr>
        <p:spPr>
          <a:xfrm>
            <a:off x="2884189" y="4049958"/>
            <a:ext cx="3063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"/>
              <a:buFont typeface="Calibri"/>
              <a:buNone/>
            </a:pPr>
            <a:r>
              <a:rPr b="1" lang="en-US" sz="5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S2</a:t>
            </a:r>
            <a:endParaRPr sz="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"/>
              <a:buFont typeface="Calibri"/>
              <a:buNone/>
            </a:pPr>
            <a:r>
              <a:rPr lang="en-US" sz="5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5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3/8</a:t>
            </a:r>
            <a:endParaRPr sz="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3190513" y="4049958"/>
            <a:ext cx="306300" cy="246900"/>
          </a:xfrm>
          <a:prstGeom prst="rect">
            <a:avLst/>
          </a:prstGeom>
          <a:solidFill>
            <a:srgbClr val="0B3D5C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 txBox="1"/>
          <p:nvPr/>
        </p:nvSpPr>
        <p:spPr>
          <a:xfrm>
            <a:off x="3190513" y="4049958"/>
            <a:ext cx="3063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"/>
              <a:buFont typeface="Calibri"/>
              <a:buNone/>
            </a:pPr>
            <a:r>
              <a:rPr b="1" lang="en-US" sz="5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S3</a:t>
            </a:r>
            <a:endParaRPr sz="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"/>
              <a:buFont typeface="Calibri"/>
              <a:buNone/>
            </a:pPr>
            <a:r>
              <a:rPr lang="en-US" sz="5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24/08</a:t>
            </a:r>
            <a:endParaRPr sz="55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3496837" y="4049958"/>
            <a:ext cx="306300" cy="246900"/>
          </a:xfrm>
          <a:prstGeom prst="rect">
            <a:avLst/>
          </a:prstGeom>
          <a:solidFill>
            <a:srgbClr val="0B3D5C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 txBox="1"/>
          <p:nvPr/>
        </p:nvSpPr>
        <p:spPr>
          <a:xfrm>
            <a:off x="3496837" y="4049958"/>
            <a:ext cx="3063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"/>
              <a:buFont typeface="Calibri"/>
              <a:buNone/>
            </a:pPr>
            <a:r>
              <a:rPr b="1" lang="en-US" sz="5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S4</a:t>
            </a:r>
            <a:endParaRPr sz="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"/>
              <a:buFont typeface="Calibri"/>
              <a:buNone/>
            </a:pPr>
            <a:r>
              <a:rPr lang="en-US" sz="5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06/09</a:t>
            </a:r>
            <a:endParaRPr sz="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3803161" y="4049958"/>
            <a:ext cx="306300" cy="246900"/>
          </a:xfrm>
          <a:prstGeom prst="rect">
            <a:avLst/>
          </a:prstGeom>
          <a:solidFill>
            <a:srgbClr val="0B3D5C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 txBox="1"/>
          <p:nvPr/>
        </p:nvSpPr>
        <p:spPr>
          <a:xfrm>
            <a:off x="3803161" y="4049958"/>
            <a:ext cx="3063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"/>
              <a:buFont typeface="Calibri"/>
              <a:buNone/>
            </a:pPr>
            <a:r>
              <a:rPr b="1" lang="en-US" sz="5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S5</a:t>
            </a:r>
            <a:endParaRPr sz="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"/>
              <a:buFont typeface="Calibri"/>
              <a:buNone/>
            </a:pPr>
            <a:r>
              <a:rPr lang="en-US" sz="5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07/09</a:t>
            </a:r>
            <a:endParaRPr sz="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4109485" y="4049958"/>
            <a:ext cx="306300" cy="246900"/>
          </a:xfrm>
          <a:prstGeom prst="rect">
            <a:avLst/>
          </a:prstGeom>
          <a:solidFill>
            <a:srgbClr val="0B3D5C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 txBox="1"/>
          <p:nvPr/>
        </p:nvSpPr>
        <p:spPr>
          <a:xfrm>
            <a:off x="4109485" y="4049958"/>
            <a:ext cx="3063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"/>
              <a:buFont typeface="Calibri"/>
              <a:buNone/>
            </a:pPr>
            <a:r>
              <a:rPr b="1" lang="en-US" sz="5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S6</a:t>
            </a:r>
            <a:endParaRPr sz="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"/>
              <a:buFont typeface="Calibri"/>
              <a:buNone/>
            </a:pPr>
            <a:r>
              <a:rPr lang="en-US" sz="5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14/09</a:t>
            </a:r>
            <a:endParaRPr sz="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4415809" y="4049958"/>
            <a:ext cx="306300" cy="246900"/>
          </a:xfrm>
          <a:prstGeom prst="rect">
            <a:avLst/>
          </a:prstGeom>
          <a:solidFill>
            <a:srgbClr val="0B3D5C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3"/>
          <p:cNvSpPr txBox="1"/>
          <p:nvPr/>
        </p:nvSpPr>
        <p:spPr>
          <a:xfrm>
            <a:off x="4415809" y="4049958"/>
            <a:ext cx="3063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"/>
              <a:buFont typeface="Calibri"/>
              <a:buNone/>
            </a:pPr>
            <a:r>
              <a:rPr b="1" lang="en-US" sz="5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S7</a:t>
            </a:r>
            <a:endParaRPr sz="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"/>
              <a:buFont typeface="Calibri"/>
              <a:buNone/>
            </a:pPr>
            <a:r>
              <a:rPr lang="en-US" sz="5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27/09</a:t>
            </a:r>
            <a:endParaRPr sz="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4722133" y="4049958"/>
            <a:ext cx="306300" cy="246900"/>
          </a:xfrm>
          <a:prstGeom prst="rect">
            <a:avLst/>
          </a:prstGeom>
          <a:solidFill>
            <a:srgbClr val="0B3D5C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3"/>
          <p:cNvSpPr txBox="1"/>
          <p:nvPr/>
        </p:nvSpPr>
        <p:spPr>
          <a:xfrm>
            <a:off x="4722133" y="4049958"/>
            <a:ext cx="3063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"/>
              <a:buFont typeface="Calibri"/>
              <a:buNone/>
            </a:pPr>
            <a:r>
              <a:rPr b="1" lang="en-US" sz="5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S8</a:t>
            </a:r>
            <a:endParaRPr sz="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"/>
              <a:buFont typeface="Calibri"/>
              <a:buNone/>
            </a:pPr>
            <a:r>
              <a:rPr lang="en-US" sz="5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28/09</a:t>
            </a:r>
            <a:endParaRPr sz="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3"/>
          <p:cNvSpPr/>
          <p:nvPr/>
        </p:nvSpPr>
        <p:spPr>
          <a:xfrm>
            <a:off x="5028457" y="4049958"/>
            <a:ext cx="306300" cy="246900"/>
          </a:xfrm>
          <a:prstGeom prst="rect">
            <a:avLst/>
          </a:prstGeom>
          <a:solidFill>
            <a:srgbClr val="0B3D5C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3"/>
          <p:cNvSpPr txBox="1"/>
          <p:nvPr/>
        </p:nvSpPr>
        <p:spPr>
          <a:xfrm>
            <a:off x="5028457" y="4049958"/>
            <a:ext cx="3063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"/>
              <a:buFont typeface="Calibri"/>
              <a:buNone/>
            </a:pPr>
            <a:r>
              <a:rPr b="1" lang="en-US" sz="5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S9</a:t>
            </a:r>
            <a:endParaRPr sz="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"/>
              <a:buFont typeface="Calibri"/>
              <a:buNone/>
            </a:pPr>
            <a:r>
              <a:rPr lang="en-US" sz="5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11/10</a:t>
            </a:r>
            <a:endParaRPr sz="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3"/>
          <p:cNvSpPr/>
          <p:nvPr/>
        </p:nvSpPr>
        <p:spPr>
          <a:xfrm>
            <a:off x="5334781" y="4049958"/>
            <a:ext cx="306300" cy="246900"/>
          </a:xfrm>
          <a:prstGeom prst="rect">
            <a:avLst/>
          </a:prstGeom>
          <a:solidFill>
            <a:srgbClr val="0B3D5C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3"/>
          <p:cNvSpPr txBox="1"/>
          <p:nvPr/>
        </p:nvSpPr>
        <p:spPr>
          <a:xfrm>
            <a:off x="5334781" y="4049958"/>
            <a:ext cx="3063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"/>
              <a:buFont typeface="Calibri"/>
              <a:buNone/>
            </a:pPr>
            <a:r>
              <a:rPr b="1" lang="en-US" sz="5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S10</a:t>
            </a:r>
            <a:endParaRPr sz="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"/>
              <a:buFont typeface="Calibri"/>
              <a:buNone/>
            </a:pPr>
            <a:r>
              <a:rPr lang="en-US" sz="5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12/10</a:t>
            </a:r>
            <a:endParaRPr sz="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3"/>
          <p:cNvSpPr/>
          <p:nvPr/>
        </p:nvSpPr>
        <p:spPr>
          <a:xfrm>
            <a:off x="5641105" y="4049958"/>
            <a:ext cx="306300" cy="246900"/>
          </a:xfrm>
          <a:prstGeom prst="rect">
            <a:avLst/>
          </a:prstGeom>
          <a:solidFill>
            <a:srgbClr val="0B3D5C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3"/>
          <p:cNvSpPr txBox="1"/>
          <p:nvPr/>
        </p:nvSpPr>
        <p:spPr>
          <a:xfrm>
            <a:off x="5641105" y="4049958"/>
            <a:ext cx="3063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"/>
              <a:buFont typeface="Calibri"/>
              <a:buNone/>
            </a:pPr>
            <a:r>
              <a:rPr b="1" lang="en-US" sz="5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S11</a:t>
            </a:r>
            <a:endParaRPr sz="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"/>
              <a:buFont typeface="Calibri"/>
              <a:buNone/>
            </a:pPr>
            <a:r>
              <a:rPr lang="en-US" sz="5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25/10</a:t>
            </a:r>
            <a:endParaRPr sz="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3"/>
          <p:cNvSpPr/>
          <p:nvPr/>
        </p:nvSpPr>
        <p:spPr>
          <a:xfrm>
            <a:off x="5947429" y="4049958"/>
            <a:ext cx="306300" cy="246900"/>
          </a:xfrm>
          <a:prstGeom prst="rect">
            <a:avLst/>
          </a:prstGeom>
          <a:solidFill>
            <a:srgbClr val="0B3D5C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3"/>
          <p:cNvSpPr txBox="1"/>
          <p:nvPr/>
        </p:nvSpPr>
        <p:spPr>
          <a:xfrm>
            <a:off x="5947429" y="4049958"/>
            <a:ext cx="3063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"/>
              <a:buFont typeface="Calibri"/>
              <a:buNone/>
            </a:pPr>
            <a:r>
              <a:rPr b="1" lang="en-US" sz="5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S12</a:t>
            </a:r>
            <a:endParaRPr sz="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"/>
              <a:buFont typeface="Calibri"/>
              <a:buNone/>
            </a:pPr>
            <a:r>
              <a:rPr lang="en-US" sz="5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26/10</a:t>
            </a:r>
            <a:endParaRPr sz="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3"/>
          <p:cNvSpPr/>
          <p:nvPr/>
        </p:nvSpPr>
        <p:spPr>
          <a:xfrm>
            <a:off x="6253753" y="4049958"/>
            <a:ext cx="306300" cy="246900"/>
          </a:xfrm>
          <a:prstGeom prst="rect">
            <a:avLst/>
          </a:prstGeom>
          <a:solidFill>
            <a:srgbClr val="0B3D5C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3"/>
          <p:cNvSpPr txBox="1"/>
          <p:nvPr/>
        </p:nvSpPr>
        <p:spPr>
          <a:xfrm>
            <a:off x="6253753" y="4049958"/>
            <a:ext cx="3063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"/>
              <a:buFont typeface="Calibri"/>
              <a:buNone/>
            </a:pPr>
            <a:r>
              <a:rPr b="1" lang="en-US" sz="5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S13</a:t>
            </a:r>
            <a:endParaRPr sz="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"/>
              <a:buFont typeface="Calibri"/>
              <a:buNone/>
            </a:pPr>
            <a:r>
              <a:rPr lang="en-US" sz="5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02/11</a:t>
            </a:r>
            <a:endParaRPr sz="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3"/>
          <p:cNvSpPr/>
          <p:nvPr/>
        </p:nvSpPr>
        <p:spPr>
          <a:xfrm>
            <a:off x="6560077" y="4049958"/>
            <a:ext cx="306300" cy="246900"/>
          </a:xfrm>
          <a:prstGeom prst="rect">
            <a:avLst/>
          </a:prstGeom>
          <a:solidFill>
            <a:srgbClr val="0B3D5C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3"/>
          <p:cNvSpPr txBox="1"/>
          <p:nvPr/>
        </p:nvSpPr>
        <p:spPr>
          <a:xfrm>
            <a:off x="6560077" y="4049958"/>
            <a:ext cx="3063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"/>
              <a:buFont typeface="Calibri"/>
              <a:buNone/>
            </a:pPr>
            <a:r>
              <a:rPr b="1" lang="en-US" sz="5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S14</a:t>
            </a:r>
            <a:endParaRPr sz="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"/>
              <a:buFont typeface="Calibri"/>
              <a:buNone/>
            </a:pPr>
            <a:r>
              <a:rPr lang="en-US" sz="5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15/11</a:t>
            </a:r>
            <a:endParaRPr sz="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3"/>
          <p:cNvSpPr/>
          <p:nvPr/>
        </p:nvSpPr>
        <p:spPr>
          <a:xfrm>
            <a:off x="6866401" y="4049958"/>
            <a:ext cx="306300" cy="246900"/>
          </a:xfrm>
          <a:prstGeom prst="rect">
            <a:avLst/>
          </a:prstGeom>
          <a:solidFill>
            <a:srgbClr val="0B3D5C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3"/>
          <p:cNvSpPr txBox="1"/>
          <p:nvPr/>
        </p:nvSpPr>
        <p:spPr>
          <a:xfrm>
            <a:off x="6866401" y="4049958"/>
            <a:ext cx="3063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"/>
              <a:buFont typeface="Calibri"/>
              <a:buNone/>
            </a:pPr>
            <a:r>
              <a:rPr b="1" lang="en-US" sz="5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S15</a:t>
            </a:r>
            <a:endParaRPr sz="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"/>
              <a:buFont typeface="Calibri"/>
              <a:buNone/>
            </a:pPr>
            <a:r>
              <a:rPr lang="en-US" sz="5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16/11</a:t>
            </a:r>
            <a:endParaRPr sz="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3"/>
          <p:cNvSpPr/>
          <p:nvPr/>
        </p:nvSpPr>
        <p:spPr>
          <a:xfrm>
            <a:off x="7172725" y="4049958"/>
            <a:ext cx="306300" cy="246900"/>
          </a:xfrm>
          <a:prstGeom prst="rect">
            <a:avLst/>
          </a:prstGeom>
          <a:solidFill>
            <a:srgbClr val="0B3D5C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3"/>
          <p:cNvSpPr txBox="1"/>
          <p:nvPr/>
        </p:nvSpPr>
        <p:spPr>
          <a:xfrm>
            <a:off x="7172725" y="4049958"/>
            <a:ext cx="3063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"/>
              <a:buFont typeface="Calibri"/>
              <a:buNone/>
            </a:pPr>
            <a:r>
              <a:rPr b="1" lang="en-US" sz="5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S16</a:t>
            </a:r>
            <a:endParaRPr sz="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"/>
              <a:buFont typeface="Calibri"/>
              <a:buNone/>
            </a:pPr>
            <a:r>
              <a:rPr lang="en-US" sz="5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23/11</a:t>
            </a:r>
            <a:endParaRPr sz="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7479059" y="4051463"/>
            <a:ext cx="302700" cy="243900"/>
          </a:xfrm>
          <a:prstGeom prst="rect">
            <a:avLst/>
          </a:prstGeom>
          <a:solidFill>
            <a:srgbClr val="0B3D5C"/>
          </a:solidFill>
          <a:ln cap="flat" cmpd="sng" w="94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175" lIns="90350" spcFirstLastPara="1" rIns="90350" wrap="square" tIns="451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7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3"/>
          <p:cNvSpPr txBox="1"/>
          <p:nvPr/>
        </p:nvSpPr>
        <p:spPr>
          <a:xfrm>
            <a:off x="7479059" y="4051463"/>
            <a:ext cx="302700" cy="24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4"/>
              <a:buFont typeface="Calibri"/>
              <a:buNone/>
            </a:pPr>
            <a:r>
              <a:rPr b="1" lang="en-US" sz="544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S17</a:t>
            </a:r>
            <a:endParaRPr sz="544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4"/>
              <a:buFont typeface="Calibri"/>
              <a:buNone/>
            </a:pPr>
            <a:r>
              <a:rPr lang="en-US" sz="544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30/11</a:t>
            </a:r>
            <a:endParaRPr sz="544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477400" y="4418114"/>
            <a:ext cx="7573500" cy="113100"/>
          </a:xfrm>
          <a:prstGeom prst="rect">
            <a:avLst/>
          </a:prstGeom>
          <a:solidFill>
            <a:srgbClr val="FFFFFF"/>
          </a:solidFill>
          <a:ln cap="flat" cmpd="sng" w="9425">
            <a:solidFill>
              <a:srgbClr val="DDE6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175" lIns="90350" spcFirstLastPara="1" rIns="90350" wrap="square" tIns="451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7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 txBox="1"/>
          <p:nvPr/>
        </p:nvSpPr>
        <p:spPr>
          <a:xfrm>
            <a:off x="474745" y="4309759"/>
            <a:ext cx="20757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42E"/>
              </a:buClr>
              <a:buSzPts val="600"/>
              <a:buFont typeface="Calibri"/>
              <a:buNone/>
            </a:pPr>
            <a:r>
              <a:rPr lang="en-US" sz="600">
                <a:solidFill>
                  <a:srgbClr val="17242E"/>
                </a:solidFill>
                <a:latin typeface="Calibri"/>
                <a:ea typeface="Calibri"/>
                <a:cs typeface="Calibri"/>
                <a:sym typeface="Calibri"/>
              </a:rPr>
              <a:t>A1  Defnición del problema</a:t>
            </a:r>
            <a:endParaRPr sz="600">
              <a:solidFill>
                <a:srgbClr val="1724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2577865" y="4328047"/>
            <a:ext cx="612600" cy="77700"/>
          </a:xfrm>
          <a:prstGeom prst="rect">
            <a:avLst/>
          </a:prstGeom>
          <a:solidFill>
            <a:srgbClr val="D8E6EE"/>
          </a:solidFill>
          <a:ln cap="flat" cmpd="sng" w="9525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2577865" y="4328047"/>
            <a:ext cx="612600" cy="77700"/>
          </a:xfrm>
          <a:prstGeom prst="rect">
            <a:avLst/>
          </a:prstGeom>
          <a:solidFill>
            <a:srgbClr val="0B3D5C"/>
          </a:solidFill>
          <a:ln cap="flat" cmpd="sng" w="9525">
            <a:solidFill>
              <a:srgbClr val="0B3D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477400" y="4531083"/>
            <a:ext cx="7573500" cy="113100"/>
          </a:xfrm>
          <a:prstGeom prst="rect">
            <a:avLst/>
          </a:prstGeom>
          <a:solidFill>
            <a:srgbClr val="EEF3F6"/>
          </a:solidFill>
          <a:ln cap="flat" cmpd="sng" w="9425">
            <a:solidFill>
              <a:srgbClr val="DDE6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175" lIns="90350" spcFirstLastPara="1" rIns="90350" wrap="square" tIns="451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7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 txBox="1"/>
          <p:nvPr/>
        </p:nvSpPr>
        <p:spPr>
          <a:xfrm>
            <a:off x="474745" y="4424059"/>
            <a:ext cx="20757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42E"/>
              </a:buClr>
              <a:buSzPts val="600"/>
              <a:buFont typeface="Calibri"/>
              <a:buNone/>
            </a:pPr>
            <a:r>
              <a:rPr lang="en-US" sz="600">
                <a:solidFill>
                  <a:srgbClr val="17242E"/>
                </a:solidFill>
                <a:latin typeface="Calibri"/>
                <a:ea typeface="Calibri"/>
                <a:cs typeface="Calibri"/>
                <a:sym typeface="Calibri"/>
              </a:rPr>
              <a:t>A2  Levantamiento de requisitos</a:t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3233925" y="4442350"/>
            <a:ext cx="605400" cy="77700"/>
          </a:xfrm>
          <a:prstGeom prst="rect">
            <a:avLst/>
          </a:prstGeom>
          <a:solidFill>
            <a:srgbClr val="0B3D5C"/>
          </a:solidFill>
          <a:ln cap="flat" cmpd="sng" w="9525">
            <a:solidFill>
              <a:srgbClr val="0B3D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477400" y="4644052"/>
            <a:ext cx="7573500" cy="113100"/>
          </a:xfrm>
          <a:prstGeom prst="rect">
            <a:avLst/>
          </a:prstGeom>
          <a:solidFill>
            <a:srgbClr val="FFFFFF"/>
          </a:solidFill>
          <a:ln cap="flat" cmpd="sng" w="9425">
            <a:solidFill>
              <a:srgbClr val="DDE6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175" lIns="90350" spcFirstLastPara="1" rIns="90350" wrap="square" tIns="451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7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 txBox="1"/>
          <p:nvPr/>
        </p:nvSpPr>
        <p:spPr>
          <a:xfrm>
            <a:off x="474745" y="4538359"/>
            <a:ext cx="20757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42E"/>
              </a:buClr>
              <a:buSzPts val="600"/>
              <a:buFont typeface="Calibri"/>
              <a:buNone/>
            </a:pPr>
            <a:r>
              <a:rPr lang="en-US" sz="600">
                <a:solidFill>
                  <a:srgbClr val="17242E"/>
                </a:solidFill>
                <a:latin typeface="Calibri"/>
                <a:ea typeface="Calibri"/>
                <a:cs typeface="Calibri"/>
                <a:sym typeface="Calibri"/>
              </a:rPr>
              <a:t>A3 Definición</a:t>
            </a:r>
            <a:r>
              <a:rPr lang="en-US" sz="600">
                <a:solidFill>
                  <a:srgbClr val="17242E"/>
                </a:solidFill>
                <a:latin typeface="Calibri"/>
                <a:ea typeface="Calibri"/>
                <a:cs typeface="Calibri"/>
                <a:sym typeface="Calibri"/>
              </a:rPr>
              <a:t> de metodología</a:t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3850125" y="4556650"/>
            <a:ext cx="292800" cy="77700"/>
          </a:xfrm>
          <a:prstGeom prst="rect">
            <a:avLst/>
          </a:prstGeom>
          <a:solidFill>
            <a:srgbClr val="0B3D5C"/>
          </a:solidFill>
          <a:ln cap="flat" cmpd="sng" w="9525">
            <a:solidFill>
              <a:srgbClr val="0B3D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477400" y="4757021"/>
            <a:ext cx="7573500" cy="113100"/>
          </a:xfrm>
          <a:prstGeom prst="rect">
            <a:avLst/>
          </a:prstGeom>
          <a:solidFill>
            <a:srgbClr val="EEF3F6"/>
          </a:solidFill>
          <a:ln cap="flat" cmpd="sng" w="9425">
            <a:solidFill>
              <a:srgbClr val="DDE6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175" lIns="90350" spcFirstLastPara="1" rIns="90350" wrap="square" tIns="451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7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 txBox="1"/>
          <p:nvPr/>
        </p:nvSpPr>
        <p:spPr>
          <a:xfrm>
            <a:off x="474745" y="4652659"/>
            <a:ext cx="20757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42E"/>
              </a:buClr>
              <a:buSzPts val="600"/>
              <a:buFont typeface="Calibri"/>
              <a:buNone/>
            </a:pPr>
            <a:r>
              <a:rPr lang="en-US" sz="600">
                <a:solidFill>
                  <a:srgbClr val="17242E"/>
                </a:solidFill>
                <a:latin typeface="Calibri"/>
                <a:ea typeface="Calibri"/>
                <a:cs typeface="Calibri"/>
                <a:sym typeface="Calibri"/>
              </a:rPr>
              <a:t>A4  Diseño de la </a:t>
            </a:r>
            <a:r>
              <a:rPr lang="en-US" sz="600">
                <a:solidFill>
                  <a:srgbClr val="17242E"/>
                </a:solidFill>
                <a:latin typeface="Calibri"/>
                <a:ea typeface="Calibri"/>
                <a:cs typeface="Calibri"/>
                <a:sym typeface="Calibri"/>
              </a:rPr>
              <a:t>arquitectura</a:t>
            </a:r>
            <a:r>
              <a:rPr lang="en-US" sz="600">
                <a:solidFill>
                  <a:srgbClr val="17242E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600">
                <a:solidFill>
                  <a:srgbClr val="17242E"/>
                </a:solidFill>
                <a:latin typeface="Calibri"/>
                <a:ea typeface="Calibri"/>
                <a:cs typeface="Calibri"/>
                <a:sym typeface="Calibri"/>
              </a:rPr>
              <a:t>lógica</a:t>
            </a:r>
            <a:r>
              <a:rPr lang="en-US" sz="600">
                <a:solidFill>
                  <a:srgbClr val="17242E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4143063" y="4661747"/>
            <a:ext cx="612600" cy="77700"/>
          </a:xfrm>
          <a:prstGeom prst="rect">
            <a:avLst/>
          </a:prstGeom>
          <a:solidFill>
            <a:srgbClr val="0B3D5C"/>
          </a:solidFill>
          <a:ln cap="flat" cmpd="sng" w="9525">
            <a:solidFill>
              <a:srgbClr val="0B3D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477400" y="4869990"/>
            <a:ext cx="7573500" cy="113100"/>
          </a:xfrm>
          <a:prstGeom prst="rect">
            <a:avLst/>
          </a:prstGeom>
          <a:solidFill>
            <a:srgbClr val="FFFFFF"/>
          </a:solidFill>
          <a:ln cap="flat" cmpd="sng" w="9425">
            <a:solidFill>
              <a:srgbClr val="DDE6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175" lIns="90350" spcFirstLastPara="1" rIns="90350" wrap="square" tIns="451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7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 txBox="1"/>
          <p:nvPr/>
        </p:nvSpPr>
        <p:spPr>
          <a:xfrm>
            <a:off x="474745" y="4766959"/>
            <a:ext cx="20757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42E"/>
              </a:buClr>
              <a:buSzPts val="600"/>
              <a:buFont typeface="Calibri"/>
              <a:buNone/>
            </a:pPr>
            <a:r>
              <a:rPr lang="en-US" sz="600">
                <a:solidFill>
                  <a:srgbClr val="17242E"/>
                </a:solidFill>
                <a:latin typeface="Calibri"/>
                <a:ea typeface="Calibri"/>
                <a:cs typeface="Calibri"/>
                <a:sym typeface="Calibri"/>
              </a:rPr>
              <a:t>A5 Dimensionamiento de equipos  </a:t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4772775" y="4774725"/>
            <a:ext cx="593700" cy="77700"/>
          </a:xfrm>
          <a:prstGeom prst="rect">
            <a:avLst/>
          </a:prstGeom>
          <a:solidFill>
            <a:srgbClr val="0B3D5C"/>
          </a:solidFill>
          <a:ln cap="flat" cmpd="sng" w="9525">
            <a:solidFill>
              <a:srgbClr val="0B3D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477400" y="4982959"/>
            <a:ext cx="7573500" cy="113100"/>
          </a:xfrm>
          <a:prstGeom prst="rect">
            <a:avLst/>
          </a:prstGeom>
          <a:solidFill>
            <a:srgbClr val="EEF3F6"/>
          </a:solidFill>
          <a:ln cap="flat" cmpd="sng" w="9425">
            <a:solidFill>
              <a:srgbClr val="DDE6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175" lIns="90350" spcFirstLastPara="1" rIns="90350" wrap="square" tIns="451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7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 txBox="1"/>
          <p:nvPr/>
        </p:nvSpPr>
        <p:spPr>
          <a:xfrm>
            <a:off x="474745" y="4881259"/>
            <a:ext cx="20757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42E"/>
              </a:buClr>
              <a:buSzPts val="600"/>
              <a:buFont typeface="Calibri"/>
              <a:buNone/>
            </a:pPr>
            <a:r>
              <a:rPr lang="en-US" sz="600">
                <a:solidFill>
                  <a:srgbClr val="17242E"/>
                </a:solidFill>
                <a:latin typeface="Calibri"/>
                <a:ea typeface="Calibri"/>
                <a:cs typeface="Calibri"/>
                <a:sym typeface="Calibri"/>
              </a:rPr>
              <a:t>A6 Elaboración del modelo de costos	 </a:t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5407801" y="4896525"/>
            <a:ext cx="567900" cy="77700"/>
          </a:xfrm>
          <a:prstGeom prst="rect">
            <a:avLst/>
          </a:prstGeom>
          <a:solidFill>
            <a:srgbClr val="0B3D5C"/>
          </a:solidFill>
          <a:ln cap="flat" cmpd="sng" w="9525">
            <a:solidFill>
              <a:srgbClr val="0B3D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477400" y="5095928"/>
            <a:ext cx="7573500" cy="113100"/>
          </a:xfrm>
          <a:prstGeom prst="rect">
            <a:avLst/>
          </a:prstGeom>
          <a:solidFill>
            <a:srgbClr val="FFFFFF"/>
          </a:solidFill>
          <a:ln cap="flat" cmpd="sng" w="9425">
            <a:solidFill>
              <a:srgbClr val="DDE6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175" lIns="90350" spcFirstLastPara="1" rIns="90350" wrap="square" tIns="451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7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 txBox="1"/>
          <p:nvPr/>
        </p:nvSpPr>
        <p:spPr>
          <a:xfrm>
            <a:off x="474745" y="4995559"/>
            <a:ext cx="20757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42E"/>
              </a:buClr>
              <a:buSzPts val="600"/>
              <a:buFont typeface="Calibri"/>
              <a:buNone/>
            </a:pPr>
            <a:r>
              <a:rPr lang="en-US" sz="600">
                <a:solidFill>
                  <a:srgbClr val="17242E"/>
                </a:solidFill>
                <a:latin typeface="Calibri"/>
                <a:ea typeface="Calibri"/>
                <a:cs typeface="Calibri"/>
                <a:sym typeface="Calibri"/>
              </a:rPr>
              <a:t>A7  Integración de propuestas </a:t>
            </a:r>
            <a:r>
              <a:rPr lang="en-US" sz="600">
                <a:solidFill>
                  <a:srgbClr val="17242E"/>
                </a:solidFill>
                <a:latin typeface="Calibri"/>
                <a:ea typeface="Calibri"/>
                <a:cs typeface="Calibri"/>
                <a:sym typeface="Calibri"/>
              </a:rPr>
              <a:t>técnicas</a:t>
            </a:r>
            <a:endParaRPr sz="600">
              <a:solidFill>
                <a:srgbClr val="1724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5975698" y="5009513"/>
            <a:ext cx="302700" cy="77700"/>
          </a:xfrm>
          <a:prstGeom prst="rect">
            <a:avLst/>
          </a:prstGeom>
          <a:solidFill>
            <a:srgbClr val="0B3D5C"/>
          </a:solidFill>
          <a:ln cap="flat" cmpd="sng" w="9525">
            <a:solidFill>
              <a:srgbClr val="0B3D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477400" y="5208897"/>
            <a:ext cx="7573500" cy="113100"/>
          </a:xfrm>
          <a:prstGeom prst="rect">
            <a:avLst/>
          </a:prstGeom>
          <a:solidFill>
            <a:srgbClr val="EEF3F6"/>
          </a:solidFill>
          <a:ln cap="flat" cmpd="sng" w="9425">
            <a:solidFill>
              <a:srgbClr val="DDE6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175" lIns="90350" spcFirstLastPara="1" rIns="90350" wrap="square" tIns="451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7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 txBox="1"/>
          <p:nvPr/>
        </p:nvSpPr>
        <p:spPr>
          <a:xfrm>
            <a:off x="474745" y="5109859"/>
            <a:ext cx="20757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42E"/>
              </a:buClr>
              <a:buSzPts val="600"/>
              <a:buFont typeface="Calibri"/>
              <a:buNone/>
            </a:pPr>
            <a:r>
              <a:rPr lang="en-US" sz="600">
                <a:solidFill>
                  <a:srgbClr val="17242E"/>
                </a:solidFill>
                <a:latin typeface="Calibri"/>
                <a:ea typeface="Calibri"/>
                <a:cs typeface="Calibri"/>
                <a:sym typeface="Calibri"/>
              </a:rPr>
              <a:t>A8  Simulación / Validación conceptual de la solución </a:t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6297150" y="5113625"/>
            <a:ext cx="593700" cy="77700"/>
          </a:xfrm>
          <a:prstGeom prst="rect">
            <a:avLst/>
          </a:prstGeom>
          <a:solidFill>
            <a:srgbClr val="0B3D5C"/>
          </a:solidFill>
          <a:ln cap="flat" cmpd="sng" w="9525">
            <a:solidFill>
              <a:srgbClr val="0B3D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477400" y="5321867"/>
            <a:ext cx="7573500" cy="113100"/>
          </a:xfrm>
          <a:prstGeom prst="rect">
            <a:avLst/>
          </a:prstGeom>
          <a:solidFill>
            <a:srgbClr val="FFFFFF"/>
          </a:solidFill>
          <a:ln cap="flat" cmpd="sng" w="9425">
            <a:solidFill>
              <a:srgbClr val="DDE6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175" lIns="90350" spcFirstLastPara="1" rIns="90350" wrap="square" tIns="451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7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 txBox="1"/>
          <p:nvPr/>
        </p:nvSpPr>
        <p:spPr>
          <a:xfrm>
            <a:off x="474745" y="5224159"/>
            <a:ext cx="20757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42E"/>
              </a:buClr>
              <a:buSzPts val="600"/>
              <a:buFont typeface="Calibri"/>
              <a:buNone/>
            </a:pPr>
            <a:r>
              <a:rPr lang="en-US" sz="600">
                <a:solidFill>
                  <a:srgbClr val="17242E"/>
                </a:solidFill>
                <a:latin typeface="Calibri"/>
                <a:ea typeface="Calibri"/>
                <a:cs typeface="Calibri"/>
                <a:sym typeface="Calibri"/>
              </a:rPr>
              <a:t>A9  Finalización y pulido de la documentación </a:t>
            </a:r>
            <a:r>
              <a:rPr lang="en-US" sz="600">
                <a:solidFill>
                  <a:srgbClr val="17242E"/>
                </a:solidFill>
                <a:latin typeface="Calibri"/>
                <a:ea typeface="Calibri"/>
                <a:cs typeface="Calibri"/>
                <a:sym typeface="Calibri"/>
              </a:rPr>
              <a:t>técnica</a:t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6909775" y="5218650"/>
            <a:ext cx="306300" cy="93600"/>
          </a:xfrm>
          <a:prstGeom prst="rect">
            <a:avLst/>
          </a:prstGeom>
          <a:solidFill>
            <a:srgbClr val="0B3D5C"/>
          </a:solidFill>
          <a:ln cap="flat" cmpd="sng" w="9525">
            <a:solidFill>
              <a:srgbClr val="0B3D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477400" y="5434836"/>
            <a:ext cx="7573500" cy="113100"/>
          </a:xfrm>
          <a:prstGeom prst="rect">
            <a:avLst/>
          </a:prstGeom>
          <a:solidFill>
            <a:srgbClr val="EEF3F6"/>
          </a:solidFill>
          <a:ln cap="flat" cmpd="sng" w="9425">
            <a:solidFill>
              <a:srgbClr val="DDE6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175" lIns="90350" spcFirstLastPara="1" rIns="90350" wrap="square" tIns="451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7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 txBox="1"/>
          <p:nvPr/>
        </p:nvSpPr>
        <p:spPr>
          <a:xfrm>
            <a:off x="474745" y="5338459"/>
            <a:ext cx="20757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42E"/>
              </a:buClr>
              <a:buSzPts val="600"/>
              <a:buFont typeface="Calibri"/>
              <a:buNone/>
            </a:pPr>
            <a:r>
              <a:rPr lang="en-US" sz="600">
                <a:solidFill>
                  <a:srgbClr val="17242E"/>
                </a:solidFill>
                <a:latin typeface="Calibri"/>
                <a:ea typeface="Calibri"/>
                <a:cs typeface="Calibri"/>
                <a:sym typeface="Calibri"/>
              </a:rPr>
              <a:t>A10  Preparación del material de presentación</a:t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477400" y="5547805"/>
            <a:ext cx="7573500" cy="113100"/>
          </a:xfrm>
          <a:prstGeom prst="rect">
            <a:avLst/>
          </a:prstGeom>
          <a:solidFill>
            <a:srgbClr val="FFFFFF"/>
          </a:solidFill>
          <a:ln cap="flat" cmpd="sng" w="9425">
            <a:solidFill>
              <a:srgbClr val="DDE6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175" lIns="90350" spcFirstLastPara="1" rIns="90350" wrap="square" tIns="451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7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 txBox="1"/>
          <p:nvPr/>
        </p:nvSpPr>
        <p:spPr>
          <a:xfrm>
            <a:off x="474745" y="5452759"/>
            <a:ext cx="20757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42E"/>
              </a:buClr>
              <a:buSzPts val="600"/>
              <a:buFont typeface="Calibri"/>
              <a:buNone/>
            </a:pPr>
            <a:r>
              <a:rPr lang="en-US" sz="600">
                <a:solidFill>
                  <a:srgbClr val="17242E"/>
                </a:solidFill>
                <a:latin typeface="Calibri"/>
                <a:ea typeface="Calibri"/>
                <a:cs typeface="Calibri"/>
                <a:sym typeface="Calibri"/>
              </a:rPr>
              <a:t>A11 Defensa final del proyecto de </a:t>
            </a:r>
            <a:r>
              <a:rPr lang="en-US" sz="600">
                <a:solidFill>
                  <a:srgbClr val="17242E"/>
                </a:solidFill>
                <a:latin typeface="Calibri"/>
                <a:ea typeface="Calibri"/>
                <a:cs typeface="Calibri"/>
                <a:sym typeface="Calibri"/>
              </a:rPr>
              <a:t>título</a:t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 txBox="1"/>
          <p:nvPr/>
        </p:nvSpPr>
        <p:spPr>
          <a:xfrm>
            <a:off x="474745" y="5567059"/>
            <a:ext cx="20757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42E"/>
              </a:buClr>
              <a:buSzPts val="600"/>
              <a:buFont typeface="Calibri"/>
              <a:buNone/>
            </a:pPr>
            <a:r>
              <a:t/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477400" y="5773743"/>
            <a:ext cx="7573500" cy="113100"/>
          </a:xfrm>
          <a:prstGeom prst="rect">
            <a:avLst/>
          </a:prstGeom>
          <a:solidFill>
            <a:srgbClr val="FFFFFF"/>
          </a:solidFill>
          <a:ln cap="flat" cmpd="sng" w="9425">
            <a:solidFill>
              <a:srgbClr val="DDE6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175" lIns="90350" spcFirstLastPara="1" rIns="90350" wrap="square" tIns="451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7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 txBox="1"/>
          <p:nvPr/>
        </p:nvSpPr>
        <p:spPr>
          <a:xfrm>
            <a:off x="474745" y="5681359"/>
            <a:ext cx="20757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42E"/>
              </a:buClr>
              <a:buSzPts val="600"/>
              <a:buFont typeface="Calibri"/>
              <a:buNone/>
            </a:pPr>
            <a:r>
              <a:t/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477400" y="5886712"/>
            <a:ext cx="7573500" cy="113100"/>
          </a:xfrm>
          <a:prstGeom prst="rect">
            <a:avLst/>
          </a:prstGeom>
          <a:solidFill>
            <a:srgbClr val="EEF3F6"/>
          </a:solidFill>
          <a:ln cap="flat" cmpd="sng" w="9425">
            <a:solidFill>
              <a:srgbClr val="DDE6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175" lIns="90350" spcFirstLastPara="1" rIns="90350" wrap="square" tIns="451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7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477400" y="5999681"/>
            <a:ext cx="7573500" cy="113100"/>
          </a:xfrm>
          <a:prstGeom prst="rect">
            <a:avLst/>
          </a:prstGeom>
          <a:solidFill>
            <a:srgbClr val="FDF3E3"/>
          </a:solidFill>
          <a:ln cap="flat" cmpd="sng" w="9425">
            <a:solidFill>
              <a:srgbClr val="DDE6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175" lIns="90350" spcFirstLastPara="1" rIns="90350" wrap="square" tIns="451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7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 txBox="1"/>
          <p:nvPr/>
        </p:nvSpPr>
        <p:spPr>
          <a:xfrm>
            <a:off x="474745" y="5909959"/>
            <a:ext cx="20757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5A00"/>
              </a:buClr>
              <a:buSzPts val="600"/>
              <a:buFont typeface="Calibri"/>
              <a:buNone/>
            </a:pPr>
            <a:r>
              <a:t/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3843365" y="5791447"/>
            <a:ext cx="306300" cy="77700"/>
          </a:xfrm>
          <a:prstGeom prst="rect">
            <a:avLst/>
          </a:prstGeom>
          <a:solidFill>
            <a:srgbClr val="F2A93B"/>
          </a:solidFill>
          <a:ln cap="flat" cmpd="sng" w="9525">
            <a:solidFill>
              <a:srgbClr val="F2A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5990829" y="5904875"/>
            <a:ext cx="306300" cy="76800"/>
          </a:xfrm>
          <a:prstGeom prst="rect">
            <a:avLst/>
          </a:prstGeom>
          <a:solidFill>
            <a:srgbClr val="F2A93B"/>
          </a:solidFill>
          <a:ln cap="flat" cmpd="sng" w="9425">
            <a:solidFill>
              <a:srgbClr val="F2A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175" lIns="90350" spcFirstLastPara="1" rIns="90350" wrap="square" tIns="451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7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 txBox="1"/>
          <p:nvPr/>
        </p:nvSpPr>
        <p:spPr>
          <a:xfrm>
            <a:off x="5975709" y="5886705"/>
            <a:ext cx="605400" cy="1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42E"/>
              </a:buClr>
              <a:buSzPts val="544"/>
              <a:buFont typeface="Calibri"/>
              <a:buNone/>
            </a:pPr>
            <a:r>
              <a:t/>
            </a:r>
            <a:endParaRPr sz="544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3" name="Google Shape;93;p3"/>
          <p:cNvCxnSpPr/>
          <p:nvPr/>
        </p:nvCxnSpPr>
        <p:spPr>
          <a:xfrm>
            <a:off x="7428227" y="4162633"/>
            <a:ext cx="0" cy="1979700"/>
          </a:xfrm>
          <a:prstGeom prst="straightConnector1">
            <a:avLst/>
          </a:prstGeom>
          <a:noFill/>
          <a:ln cap="flat" cmpd="sng" w="22225">
            <a:solidFill>
              <a:srgbClr val="B3261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4" name="Google Shape;94;p3"/>
          <p:cNvSpPr txBox="1"/>
          <p:nvPr/>
        </p:nvSpPr>
        <p:spPr>
          <a:xfrm>
            <a:off x="5304725" y="6093775"/>
            <a:ext cx="6861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3261E"/>
              </a:buClr>
              <a:buSzPts val="700"/>
              <a:buFont typeface="Calibri"/>
              <a:buNone/>
            </a:pPr>
            <a:r>
              <a:rPr b="1" lang="en-US" sz="700">
                <a:solidFill>
                  <a:srgbClr val="B3261E"/>
                </a:solidFill>
                <a:latin typeface="Calibri"/>
                <a:ea typeface="Calibri"/>
                <a:cs typeface="Calibri"/>
                <a:sym typeface="Calibri"/>
              </a:rPr>
              <a:t>HOY · 13 oct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457200" y="6131052"/>
            <a:ext cx="146304" cy="82296"/>
          </a:xfrm>
          <a:prstGeom prst="rect">
            <a:avLst/>
          </a:prstGeom>
          <a:solidFill>
            <a:srgbClr val="0B3D5C"/>
          </a:solidFill>
          <a:ln cap="flat" cmpd="sng" w="9525">
            <a:solidFill>
              <a:srgbClr val="0B3D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"/>
          <p:cNvSpPr txBox="1"/>
          <p:nvPr/>
        </p:nvSpPr>
        <p:spPr>
          <a:xfrm>
            <a:off x="640080" y="6112764"/>
            <a:ext cx="731520" cy="118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700"/>
              <a:buFont typeface="Calibri"/>
              <a:buNone/>
            </a:pPr>
            <a:r>
              <a:rPr lang="en-US" sz="700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Ejecutado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1417320" y="6131052"/>
            <a:ext cx="146304" cy="82296"/>
          </a:xfrm>
          <a:prstGeom prst="rect">
            <a:avLst/>
          </a:prstGeom>
          <a:solidFill>
            <a:srgbClr val="D8E6EE"/>
          </a:solidFill>
          <a:ln cap="flat" cmpd="sng" w="9525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3"/>
          <p:cNvSpPr txBox="1"/>
          <p:nvPr/>
        </p:nvSpPr>
        <p:spPr>
          <a:xfrm>
            <a:off x="1600200" y="6112764"/>
            <a:ext cx="731520" cy="118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700"/>
              <a:buFont typeface="Calibri"/>
              <a:buNone/>
            </a:pPr>
            <a:r>
              <a:rPr lang="en-US" sz="700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Planificado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2377440" y="6131052"/>
            <a:ext cx="146304" cy="82296"/>
          </a:xfrm>
          <a:prstGeom prst="rect">
            <a:avLst/>
          </a:prstGeom>
          <a:solidFill>
            <a:srgbClr val="B3261E"/>
          </a:solidFill>
          <a:ln cap="flat" cmpd="sng" w="9525">
            <a:solidFill>
              <a:srgbClr val="B326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3"/>
          <p:cNvSpPr txBox="1"/>
          <p:nvPr/>
        </p:nvSpPr>
        <p:spPr>
          <a:xfrm>
            <a:off x="2560320" y="6112764"/>
            <a:ext cx="731520" cy="118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700"/>
              <a:buFont typeface="Calibri"/>
              <a:buNone/>
            </a:pPr>
            <a:r>
              <a:rPr lang="en-US" sz="700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Atraso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3337560" y="6131052"/>
            <a:ext cx="146304" cy="82296"/>
          </a:xfrm>
          <a:prstGeom prst="rect">
            <a:avLst/>
          </a:prstGeom>
          <a:solidFill>
            <a:srgbClr val="F2A93B"/>
          </a:solidFill>
          <a:ln cap="flat" cmpd="sng" w="9525">
            <a:solidFill>
              <a:srgbClr val="F2A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3"/>
          <p:cNvSpPr txBox="1"/>
          <p:nvPr/>
        </p:nvSpPr>
        <p:spPr>
          <a:xfrm>
            <a:off x="3520440" y="6112764"/>
            <a:ext cx="731520" cy="118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700"/>
              <a:buFont typeface="Calibri"/>
              <a:buNone/>
            </a:pPr>
            <a:r>
              <a:rPr lang="en-US" sz="700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Hito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8495450" y="4140600"/>
            <a:ext cx="3236100" cy="2049900"/>
          </a:xfrm>
          <a:prstGeom prst="rect">
            <a:avLst/>
          </a:prstGeom>
          <a:solidFill>
            <a:srgbClr val="FBEAE8"/>
          </a:solidFill>
          <a:ln cap="flat" cmpd="sng" w="9525">
            <a:solidFill>
              <a:srgbClr val="E9C4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3"/>
          <p:cNvSpPr txBox="1"/>
          <p:nvPr/>
        </p:nvSpPr>
        <p:spPr>
          <a:xfrm>
            <a:off x="8495445" y="4108585"/>
            <a:ext cx="3090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1B10"/>
              </a:buClr>
              <a:buSzPts val="1200"/>
              <a:buFont typeface="Cambria"/>
              <a:buNone/>
            </a:pPr>
            <a:r>
              <a:rPr b="1" lang="en-US" sz="1200">
                <a:solidFill>
                  <a:srgbClr val="7A1B10"/>
                </a:solidFill>
                <a:latin typeface="Cambria"/>
                <a:ea typeface="Cambria"/>
                <a:cs typeface="Cambria"/>
                <a:sym typeface="Cambria"/>
              </a:rPr>
              <a:t>Tareas atrasadas (0)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8503920" y="4315968"/>
            <a:ext cx="3090672" cy="1783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D5C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0B3D5C"/>
                </a:solidFill>
                <a:latin typeface="Calibri"/>
                <a:ea typeface="Calibri"/>
                <a:cs typeface="Calibri"/>
                <a:sym typeface="Calibri"/>
              </a:rPr>
              <a:t>Sin tareas atrasadas al 13 de octubre</a:t>
            </a:r>
            <a:endParaRPr b="1" sz="950">
              <a:solidFill>
                <a:srgbClr val="0B3D5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D5C"/>
              </a:buClr>
              <a:buSzPts val="950"/>
              <a:buFont typeface="Calibri"/>
              <a:buNone/>
            </a:pPr>
            <a:r>
              <a:t/>
            </a:r>
            <a:endParaRPr b="1" sz="950">
              <a:solidFill>
                <a:srgbClr val="0B3D5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En alcance:</a:t>
            </a:r>
            <a:r>
              <a:rPr lang="en-US" sz="1100">
                <a:solidFill>
                  <a:schemeClr val="dk1"/>
                </a:solidFill>
              </a:rPr>
              <a:t> Implementación 5G Neutral Host en los 3 tramos de la Línea 9 (trazado completo desde estación Bío Bío hasta Puente Alto). Incluye cobertura en andenes y los 27 km de túneles.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Fuera de alcance:</a:t>
            </a:r>
            <a:r>
              <a:rPr lang="en-US" sz="1100">
                <a:solidFill>
                  <a:schemeClr val="dk1"/>
                </a:solidFill>
              </a:rPr>
              <a:t> Sistemas de señalización (CBTC), torniquetes, WiFi público y despliegue en tramos posteriores (Otras </a:t>
            </a:r>
            <a:r>
              <a:rPr lang="en-US" sz="1100">
                <a:solidFill>
                  <a:schemeClr val="dk1"/>
                </a:solidFill>
              </a:rPr>
              <a:t>Líneas</a:t>
            </a:r>
            <a:r>
              <a:rPr lang="en-US" sz="1100">
                <a:solidFill>
                  <a:schemeClr val="dk1"/>
                </a:solidFill>
              </a:rPr>
              <a:t> de metro).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5A00"/>
              </a:buClr>
              <a:buSzPts val="850"/>
              <a:buFont typeface="Calibri"/>
              <a:buNone/>
            </a:pPr>
            <a:r>
              <a:t/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7229175" y="5331625"/>
            <a:ext cx="292800" cy="93600"/>
          </a:xfrm>
          <a:prstGeom prst="rect">
            <a:avLst/>
          </a:prstGeom>
          <a:solidFill>
            <a:srgbClr val="0B3D5C"/>
          </a:solidFill>
          <a:ln cap="flat" cmpd="sng" w="9525">
            <a:solidFill>
              <a:srgbClr val="0B3D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7536100" y="5444588"/>
            <a:ext cx="275400" cy="93600"/>
          </a:xfrm>
          <a:prstGeom prst="rect">
            <a:avLst/>
          </a:prstGeom>
          <a:solidFill>
            <a:srgbClr val="0B3D5C"/>
          </a:solidFill>
          <a:ln cap="flat" cmpd="sng" w="9525">
            <a:solidFill>
              <a:srgbClr val="0B3D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 txBox="1"/>
          <p:nvPr/>
        </p:nvSpPr>
        <p:spPr>
          <a:xfrm>
            <a:off x="6760234" y="5869130"/>
            <a:ext cx="605400" cy="1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42E"/>
              </a:buClr>
              <a:buSzPts val="544"/>
              <a:buFont typeface="Calibri"/>
              <a:buNone/>
            </a:pPr>
            <a:r>
              <a:t/>
            </a:r>
            <a:endParaRPr sz="544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6908602" y="6015125"/>
            <a:ext cx="302700" cy="82200"/>
          </a:xfrm>
          <a:prstGeom prst="rect">
            <a:avLst/>
          </a:prstGeom>
          <a:solidFill>
            <a:srgbClr val="F2A93B"/>
          </a:solidFill>
          <a:ln cap="flat" cmpd="sng" w="9525">
            <a:solidFill>
              <a:srgbClr val="F2A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3"/>
          <p:cNvSpPr/>
          <p:nvPr/>
        </p:nvSpPr>
        <p:spPr>
          <a:xfrm>
            <a:off x="5973900" y="4998413"/>
            <a:ext cx="306300" cy="82200"/>
          </a:xfrm>
          <a:prstGeom prst="rect">
            <a:avLst/>
          </a:prstGeom>
          <a:solidFill>
            <a:srgbClr val="D8E6EE"/>
          </a:solidFill>
          <a:ln cap="flat" cmpd="sng" w="9525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3"/>
          <p:cNvSpPr/>
          <p:nvPr/>
        </p:nvSpPr>
        <p:spPr>
          <a:xfrm>
            <a:off x="6297150" y="5111375"/>
            <a:ext cx="593700" cy="82200"/>
          </a:xfrm>
          <a:prstGeom prst="rect">
            <a:avLst/>
          </a:prstGeom>
          <a:solidFill>
            <a:srgbClr val="D8E6EE"/>
          </a:solidFill>
          <a:ln cap="flat" cmpd="sng" w="9525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3"/>
          <p:cNvSpPr/>
          <p:nvPr/>
        </p:nvSpPr>
        <p:spPr>
          <a:xfrm>
            <a:off x="6906812" y="5224338"/>
            <a:ext cx="306300" cy="82200"/>
          </a:xfrm>
          <a:prstGeom prst="rect">
            <a:avLst/>
          </a:prstGeom>
          <a:solidFill>
            <a:srgbClr val="D8E6EE"/>
          </a:solidFill>
          <a:ln cap="flat" cmpd="sng" w="9525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7222425" y="5337300"/>
            <a:ext cx="306300" cy="82200"/>
          </a:xfrm>
          <a:prstGeom prst="rect">
            <a:avLst/>
          </a:prstGeom>
          <a:solidFill>
            <a:srgbClr val="D8E6EE"/>
          </a:solidFill>
          <a:ln cap="flat" cmpd="sng" w="9525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"/>
          <p:cNvSpPr/>
          <p:nvPr/>
        </p:nvSpPr>
        <p:spPr>
          <a:xfrm>
            <a:off x="7520650" y="5450288"/>
            <a:ext cx="306300" cy="82200"/>
          </a:xfrm>
          <a:prstGeom prst="rect">
            <a:avLst/>
          </a:prstGeom>
          <a:solidFill>
            <a:srgbClr val="D8E6EE"/>
          </a:solidFill>
          <a:ln cap="flat" cmpd="sng" w="9525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3"/>
          <p:cNvSpPr/>
          <p:nvPr/>
        </p:nvSpPr>
        <p:spPr>
          <a:xfrm>
            <a:off x="5528700" y="4893175"/>
            <a:ext cx="447000" cy="82200"/>
          </a:xfrm>
          <a:prstGeom prst="rect">
            <a:avLst/>
          </a:prstGeom>
          <a:solidFill>
            <a:srgbClr val="D8E6EE"/>
          </a:solidFill>
          <a:ln cap="flat" cmpd="sng" w="9525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"/>
          <p:cNvSpPr txBox="1"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050"/>
              <a:buFont typeface="Calibri"/>
              <a:buNone/>
            </a:pPr>
            <a:r>
              <a:rPr b="1" lang="en-US" spc="300" sz="105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02 · ENTREGABLES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 txBox="1"/>
          <p:nvPr/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D5C"/>
              </a:buClr>
              <a:buSzPts val="2600"/>
              <a:buFont typeface="Cambria"/>
              <a:buNone/>
            </a:pPr>
            <a:r>
              <a:rPr b="1" lang="en-US" sz="2600">
                <a:solidFill>
                  <a:srgbClr val="0B3D5C"/>
                </a:solidFill>
                <a:latin typeface="Cambria"/>
                <a:ea typeface="Cambria"/>
                <a:cs typeface="Cambria"/>
                <a:sym typeface="Cambria"/>
              </a:rPr>
              <a:t>Entregables y criterios de éxito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 txBox="1"/>
          <p:nvPr/>
        </p:nvSpPr>
        <p:spPr>
          <a:xfrm>
            <a:off x="10817352" y="644652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24" name="Google Shape;124;p4"/>
          <p:cNvGraphicFramePr/>
          <p:nvPr/>
        </p:nvGraphicFramePr>
        <p:xfrm>
          <a:off x="61563" y="103201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{373E4D32-8542-4602-A650-CACE3B8C5464}</a:tableStyleId>
              </a:tblPr>
              <a:tblGrid>
                <a:gridCol w="2966025"/>
                <a:gridCol w="3568625"/>
                <a:gridCol w="3508475"/>
                <a:gridCol w="1995275"/>
              </a:tblGrid>
              <a:tr h="163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Entregable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Tareas asociadas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Criterio de aceptación medible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Fecha comprometida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3D5C"/>
                    </a:solidFill>
                  </a:tcPr>
                </a:tc>
              </a:tr>
              <a:tr h="391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3D5C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1100">
                          <a:solidFill>
                            <a:srgbClr val="1F1F1F"/>
                          </a:solidFill>
                        </a:rPr>
                        <a:t>Entregable</a:t>
                      </a:r>
                      <a:endParaRPr b="1" sz="1100" u="none" cap="none" strike="noStrike">
                        <a:solidFill>
                          <a:srgbClr val="1F1F1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1F1F1F"/>
                          </a:solidFill>
                        </a:rPr>
                        <a:t>Tareas asociadas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1F1F1F"/>
                          </a:solidFill>
                        </a:rPr>
                        <a:t>Criterio de aceptación medible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1F1F1F"/>
                          </a:solidFill>
                        </a:rPr>
                        <a:t>Fecha comprometida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821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1F1F1F"/>
                          </a:solidFill>
                        </a:rPr>
                        <a:t>1. Diseño de Arquitectura de Red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</a:rPr>
                        <a:t>Diseño de topología Neutral Host, despliegue C-RAN (BBU Hotel) y segmentación de tráfico con VLANs.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</a:rPr>
                        <a:t>Aislamiento lógico del 100% garantizado entre la red comercial y los sistemas críticos de Metro (CBTC/CCTV).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</a:rPr>
                        <a:t>Semana 6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</a:rPr>
                        <a:t>(20 de septiembre)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chemeClr val="accent1"/>
                          </a:solidFill>
                        </a:rPr>
                        <a:t>COMPLETADA</a:t>
                      </a:r>
                      <a:endParaRPr b="1" sz="1100">
                        <a:solidFill>
                          <a:schemeClr val="accent1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1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3D5C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1100">
                          <a:solidFill>
                            <a:srgbClr val="1F1F1F"/>
                          </a:solidFill>
                        </a:rPr>
                        <a:t>2. Memoria de Cálculo de Radiofrecuencia</a:t>
                      </a:r>
                      <a:endParaRPr b="1" sz="1100" u="none" cap="none" strike="noStrike">
                        <a:solidFill>
                          <a:srgbClr val="1F1F1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</a:rPr>
                        <a:t>Presupuesto de enlace (Link Budget) y dimensionamiento de DAS y Cable Radiante para los 27 km.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</a:rPr>
                        <a:t>Cobertura teórica simulada con nivel de señal igual o superior a -75 dBm para trenes a 80 km/h.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</a:rPr>
                        <a:t>Semana 9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</a:rPr>
                        <a:t>(11 de octubre)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chemeClr val="accent1"/>
                          </a:solidFill>
                        </a:rPr>
                        <a:t>EN EJECUCIÓN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5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3D5C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1100">
                          <a:solidFill>
                            <a:srgbClr val="1F1F1F"/>
                          </a:solidFill>
                        </a:rPr>
                        <a:t>3. Evaluación Económica (CAPEX/OPEX)</a:t>
                      </a:r>
                      <a:endParaRPr b="1" sz="1100" u="none" cap="none" strike="noStrike">
                        <a:solidFill>
                          <a:srgbClr val="1F1F1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</a:rPr>
                        <a:t>Elaboración del presupuesto de hardware/servicios diferenciando tramos Greenfield vs. Upgrade.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</a:rPr>
                        <a:t>Reducción comprobable de CAPEX &gt;60% para los operadores (MNO) frente a un despliegue individual.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</a:rPr>
                        <a:t>Semana 11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</a:rPr>
                        <a:t>(25 de octubre)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chemeClr val="accent1"/>
                          </a:solidFill>
                        </a:rPr>
                        <a:t>EN EJECUCIÓN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6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3D5C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1100">
                          <a:solidFill>
                            <a:srgbClr val="1F1F1F"/>
                          </a:solidFill>
                        </a:rPr>
                        <a:t>4. Informe Final y Defensa Capstone</a:t>
                      </a:r>
                      <a:endParaRPr b="1" sz="1100" u="none" cap="none" strike="noStrike">
                        <a:solidFill>
                          <a:srgbClr val="1F1F1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</a:rPr>
                        <a:t>Consolidación del documento técnico, material gráfico ejecutivo y preparación de la exposición oral.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</a:rPr>
                        <a:t>Aprobación formal de la viabilidad técnica y financiera por parte de la comisión evaluadora.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</a:rPr>
                        <a:t>Semana 17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</a:rPr>
                        <a:t>(6 de diciembre)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chemeClr val="accent1"/>
                          </a:solidFill>
                        </a:rPr>
                        <a:t>EN PLANIFICACIÓN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"/>
          <p:cNvSpPr txBox="1"/>
          <p:nvPr/>
        </p:nvSpPr>
        <p:spPr>
          <a:xfrm>
            <a:off x="137160" y="41559"/>
            <a:ext cx="4729480" cy="39674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2000"/>
              <a:buFont typeface="Calibri"/>
              <a:buNone/>
            </a:pPr>
            <a:r>
              <a:rPr b="1" lang="en-US" spc="100" sz="200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PRUEBA 1 ·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 txBox="1"/>
          <p:nvPr/>
        </p:nvSpPr>
        <p:spPr>
          <a:xfrm>
            <a:off x="3764650" y="0"/>
            <a:ext cx="8373000" cy="6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D5C"/>
              </a:buClr>
              <a:buSzPts val="950"/>
              <a:buFont typeface="Calibri"/>
              <a:buNone/>
            </a:pPr>
            <a:r>
              <a:rPr b="1" lang="en-US" sz="950" u="sng">
                <a:solidFill>
                  <a:srgbClr val="0B3D5C"/>
                </a:solidFill>
                <a:latin typeface="Calibri"/>
                <a:ea typeface="Calibri"/>
                <a:cs typeface="Calibri"/>
                <a:sym typeface="Calibri"/>
              </a:rPr>
              <a:t>Prueba</a:t>
            </a:r>
            <a:r>
              <a:rPr b="1" lang="en-US" sz="950">
                <a:solidFill>
                  <a:srgbClr val="0B3D5C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950">
                <a:solidFill>
                  <a:srgbClr val="0B3D5C"/>
                </a:solidFill>
                <a:latin typeface="Calibri"/>
                <a:ea typeface="Calibri"/>
                <a:cs typeface="Calibri"/>
                <a:sym typeface="Calibri"/>
              </a:rPr>
              <a:t>Revisión de la topología lógica Neutral Host y segmentación de seguridad. </a:t>
            </a:r>
            <a:endParaRPr sz="950">
              <a:solidFill>
                <a:srgbClr val="0B3D5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D5C"/>
              </a:buClr>
              <a:buSzPts val="950"/>
              <a:buFont typeface="Calibri"/>
              <a:buNone/>
            </a:pPr>
            <a:r>
              <a:rPr b="1" lang="en-US" sz="950" u="sng">
                <a:solidFill>
                  <a:srgbClr val="0B3D5C"/>
                </a:solidFill>
                <a:latin typeface="Calibri"/>
                <a:ea typeface="Calibri"/>
                <a:cs typeface="Calibri"/>
                <a:sym typeface="Calibri"/>
              </a:rPr>
              <a:t>Esperado</a:t>
            </a:r>
            <a:r>
              <a:rPr b="1" lang="en-US" sz="950">
                <a:solidFill>
                  <a:srgbClr val="0B3D5C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n-US" sz="950">
                <a:solidFill>
                  <a:srgbClr val="0B3D5C"/>
                </a:solidFill>
                <a:latin typeface="Calibri"/>
                <a:ea typeface="Calibri"/>
                <a:cs typeface="Calibri"/>
                <a:sym typeface="Calibri"/>
              </a:rPr>
              <a:t>Diagrama integral que evidencie el BBU Hotel y el aislamiento total del tráfico comercial respecto al crítico (Metro CBTC). </a:t>
            </a:r>
            <a:endParaRPr sz="950">
              <a:solidFill>
                <a:srgbClr val="0B3D5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D5C"/>
              </a:buClr>
              <a:buSzPts val="950"/>
              <a:buFont typeface="Calibri"/>
              <a:buNone/>
            </a:pPr>
            <a:r>
              <a:rPr b="1" lang="en-US" sz="950" u="sng">
                <a:solidFill>
                  <a:srgbClr val="0B3D5C"/>
                </a:solidFill>
                <a:latin typeface="Calibri"/>
                <a:ea typeface="Calibri"/>
                <a:cs typeface="Calibri"/>
                <a:sym typeface="Calibri"/>
              </a:rPr>
              <a:t>Obtenido</a:t>
            </a:r>
            <a:r>
              <a:rPr b="1" lang="en-US" sz="950">
                <a:solidFill>
                  <a:srgbClr val="0B3D5C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950">
                <a:solidFill>
                  <a:srgbClr val="0B3D5C"/>
                </a:solidFill>
                <a:latin typeface="Calibri"/>
                <a:ea typeface="Calibri"/>
                <a:cs typeface="Calibri"/>
                <a:sym typeface="Calibri"/>
              </a:rPr>
              <a:t>Topología definida con esquema de VLANs dedicado implementado teóricamente. </a:t>
            </a:r>
            <a:endParaRPr sz="950">
              <a:solidFill>
                <a:srgbClr val="0B3D5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1" name="Google Shape;131;p5" title="Tramo 1 L9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89900"/>
            <a:ext cx="12191999" cy="4909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"/>
          <p:cNvSpPr txBox="1"/>
          <p:nvPr/>
        </p:nvSpPr>
        <p:spPr>
          <a:xfrm>
            <a:off x="259080" y="0"/>
            <a:ext cx="4706620" cy="665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600"/>
              <a:buFont typeface="Calibri"/>
              <a:buNone/>
            </a:pPr>
            <a:r>
              <a:rPr b="1" lang="en-US" spc="100" sz="160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PRUEBA 2 · </a:t>
            </a:r>
            <a:r>
              <a:rPr b="1" lang="en-US" spc="100" sz="160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Memoria de Cálculo de Radiofrecuencia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 txBox="1"/>
          <p:nvPr/>
        </p:nvSpPr>
        <p:spPr>
          <a:xfrm>
            <a:off x="4541525" y="144275"/>
            <a:ext cx="76506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D5C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Prueba</a:t>
            </a:r>
            <a:r>
              <a:rPr b="1" lang="en-US" sz="1200">
                <a:solidFill>
                  <a:srgbClr val="0B3D5C"/>
                </a:solidFill>
                <a:latin typeface="Calibri"/>
                <a:ea typeface="Calibri"/>
                <a:cs typeface="Calibri"/>
                <a:sym typeface="Calibri"/>
              </a:rPr>
              <a:t>: Simulación matemática de atenuación en túneles (Link Budget) usando el Cable Radiante.</a:t>
            </a:r>
            <a:endParaRPr sz="1200">
              <a:solidFill>
                <a:srgbClr val="1724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D5C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Esperado</a:t>
            </a:r>
            <a:r>
              <a:rPr b="1" lang="en-US" sz="1200">
                <a:solidFill>
                  <a:srgbClr val="0B3D5C"/>
                </a:solidFill>
                <a:latin typeface="Calibri"/>
                <a:ea typeface="Calibri"/>
                <a:cs typeface="Calibri"/>
                <a:sym typeface="Calibri"/>
              </a:rPr>
              <a:t>: Garantizar un nivel de señal continuo superior a -75 dBm a 80 km/h en los 27 km.</a:t>
            </a:r>
            <a:endParaRPr sz="1200">
              <a:solidFill>
                <a:srgbClr val="1724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D5C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Obtenido:</a:t>
            </a:r>
            <a:r>
              <a:rPr b="1" lang="en-US" sz="1200">
                <a:solidFill>
                  <a:srgbClr val="0B3D5C"/>
                </a:solidFill>
                <a:latin typeface="Calibri"/>
                <a:ea typeface="Calibri"/>
                <a:cs typeface="Calibri"/>
                <a:sym typeface="Calibri"/>
              </a:rPr>
              <a:t> El cálculo matemático en el punto más crítico (a 500 metros de la RRU) arroja un Nivel de Señal de -70.5 dBm.</a:t>
            </a:r>
            <a:endParaRPr sz="1200">
              <a:solidFill>
                <a:srgbClr val="0B3D5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8" name="Google Shape;138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915600"/>
            <a:ext cx="12191999" cy="2480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7"/>
          <p:cNvSpPr/>
          <p:nvPr/>
        </p:nvSpPr>
        <p:spPr>
          <a:xfrm rot="5400000">
            <a:off x="3215376" y="5611114"/>
            <a:ext cx="975900" cy="839100"/>
          </a:xfrm>
          <a:prstGeom prst="bentUpArrow">
            <a:avLst>
              <a:gd fmla="val 25000" name="adj1"/>
              <a:gd fmla="val 25000" name="adj2"/>
              <a:gd fmla="val 35209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7"/>
          <p:cNvSpPr txBox="1"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050"/>
              <a:buFont typeface="Calibri"/>
              <a:buNone/>
            </a:pPr>
            <a:r>
              <a:rPr b="1" lang="en-US" spc="300" sz="105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03 · EVIDENCIAS DE AVANCE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7"/>
          <p:cNvSpPr txBox="1"/>
          <p:nvPr/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D5C"/>
              </a:buClr>
              <a:buSzPts val="2600"/>
              <a:buFont typeface="Cambria"/>
              <a:buNone/>
            </a:pPr>
            <a:r>
              <a:rPr b="1" lang="en-US" sz="2600">
                <a:solidFill>
                  <a:srgbClr val="0B3D5C"/>
                </a:solidFill>
                <a:latin typeface="Cambria"/>
                <a:ea typeface="Cambria"/>
                <a:cs typeface="Cambria"/>
                <a:sym typeface="Cambria"/>
              </a:rPr>
              <a:t>Simulación del ambiente y pruebas de verificación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7"/>
          <p:cNvSpPr txBox="1"/>
          <p:nvPr/>
        </p:nvSpPr>
        <p:spPr>
          <a:xfrm>
            <a:off x="457200" y="6446520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 txBox="1"/>
          <p:nvPr/>
        </p:nvSpPr>
        <p:spPr>
          <a:xfrm>
            <a:off x="10817352" y="644652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6446525" y="1005850"/>
            <a:ext cx="5745600" cy="1884600"/>
          </a:xfrm>
          <a:prstGeom prst="rect">
            <a:avLst/>
          </a:prstGeom>
          <a:solidFill>
            <a:srgbClr val="FFFFFF"/>
          </a:solidFill>
          <a:ln cap="flat" cmpd="sng" w="13800">
            <a:solidFill>
              <a:srgbClr val="DDE6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9675" lIns="99400" spcFirstLastPara="1" rIns="99400" wrap="square" tIns="49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5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 txBox="1"/>
          <p:nvPr/>
        </p:nvSpPr>
        <p:spPr>
          <a:xfrm>
            <a:off x="6595626" y="1230372"/>
            <a:ext cx="4080300" cy="27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033"/>
              <a:buFont typeface="Calibri"/>
              <a:buNone/>
            </a:pPr>
            <a:r>
              <a:rPr b="1" lang="en-US" spc="109" sz="1033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PRUEBA 1 · Estado de la red sin la implementación</a:t>
            </a:r>
            <a:endParaRPr sz="10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 txBox="1"/>
          <p:nvPr/>
        </p:nvSpPr>
        <p:spPr>
          <a:xfrm>
            <a:off x="6595633" y="1558027"/>
            <a:ext cx="3379800" cy="12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978">
                <a:solidFill>
                  <a:srgbClr val="0B3D5C"/>
                </a:solidFill>
                <a:latin typeface="Calibri"/>
                <a:ea typeface="Calibri"/>
                <a:cs typeface="Calibri"/>
                <a:sym typeface="Calibri"/>
              </a:rPr>
              <a:t>Prueba: Medición de señal mediante un teléfono móvil</a:t>
            </a:r>
            <a:endParaRPr b="1" sz="978">
              <a:solidFill>
                <a:srgbClr val="0B3D5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978">
              <a:solidFill>
                <a:srgbClr val="0B3D5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978">
                <a:solidFill>
                  <a:srgbClr val="0B3D5C"/>
                </a:solidFill>
                <a:latin typeface="Calibri"/>
                <a:ea typeface="Calibri"/>
                <a:cs typeface="Calibri"/>
                <a:sym typeface="Calibri"/>
              </a:rPr>
              <a:t>Resultado esperado: Baja o nula conectividad, con un nivel de señal entre -100 y -115 dBm.</a:t>
            </a:r>
            <a:endParaRPr b="1" sz="978">
              <a:solidFill>
                <a:srgbClr val="0B3D5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978">
              <a:solidFill>
                <a:srgbClr val="0B3D5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978">
                <a:solidFill>
                  <a:srgbClr val="0B3D5C"/>
                </a:solidFill>
                <a:latin typeface="Calibri"/>
                <a:ea typeface="Calibri"/>
                <a:cs typeface="Calibri"/>
                <a:sym typeface="Calibri"/>
              </a:rPr>
              <a:t>Resultado obtenido: -106 dBm, correspondiente a una señal débil, con conectividad muy limitada o inexistente.</a:t>
            </a:r>
            <a:endParaRPr b="1" sz="978">
              <a:solidFill>
                <a:srgbClr val="0B3D5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D5C"/>
              </a:buClr>
              <a:buSzPts val="978"/>
              <a:buFont typeface="Calibri"/>
              <a:buNone/>
            </a:pPr>
            <a:r>
              <a:t/>
            </a:r>
            <a:endParaRPr b="1" sz="978">
              <a:solidFill>
                <a:srgbClr val="0B3D5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6446525" y="3021543"/>
            <a:ext cx="5745600" cy="1747500"/>
          </a:xfrm>
          <a:prstGeom prst="rect">
            <a:avLst/>
          </a:prstGeom>
          <a:solidFill>
            <a:srgbClr val="FFFFFF"/>
          </a:solidFill>
          <a:ln cap="flat" cmpd="sng" w="13800">
            <a:solidFill>
              <a:srgbClr val="DDE6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9675" lIns="99400" spcFirstLastPara="1" rIns="99400" wrap="square" tIns="49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5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 txBox="1"/>
          <p:nvPr/>
        </p:nvSpPr>
        <p:spPr>
          <a:xfrm>
            <a:off x="6595633" y="3108917"/>
            <a:ext cx="3379800" cy="27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033"/>
              <a:buFont typeface="Calibri"/>
              <a:buNone/>
            </a:pPr>
            <a:r>
              <a:rPr b="1" lang="en-US" spc="109" sz="1033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PRUEBA 2 · Estado de la red con DAS activado</a:t>
            </a:r>
            <a:endParaRPr sz="10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 txBox="1"/>
          <p:nvPr/>
        </p:nvSpPr>
        <p:spPr>
          <a:xfrm>
            <a:off x="6512533" y="3436407"/>
            <a:ext cx="3379800" cy="12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978">
                <a:solidFill>
                  <a:srgbClr val="0B3D5C"/>
                </a:solidFill>
                <a:latin typeface="Calibri"/>
                <a:ea typeface="Calibri"/>
                <a:cs typeface="Calibri"/>
                <a:sym typeface="Calibri"/>
              </a:rPr>
              <a:t>Prueba: Medición de señal mediante un teléfono móvil</a:t>
            </a:r>
            <a:endParaRPr b="1" sz="978">
              <a:solidFill>
                <a:srgbClr val="0B3D5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978">
              <a:solidFill>
                <a:srgbClr val="0B3D5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978">
                <a:solidFill>
                  <a:srgbClr val="0B3D5C"/>
                </a:solidFill>
                <a:latin typeface="Calibri"/>
                <a:ea typeface="Calibri"/>
                <a:cs typeface="Calibri"/>
                <a:sym typeface="Calibri"/>
              </a:rPr>
              <a:t>Resultado esperado: Excelente conectividad, con un nivel de señal entre -85 y -70 dBm.</a:t>
            </a:r>
            <a:endParaRPr b="1" sz="978">
              <a:solidFill>
                <a:srgbClr val="0B3D5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978">
              <a:solidFill>
                <a:srgbClr val="0B3D5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978">
                <a:solidFill>
                  <a:srgbClr val="0B3D5C"/>
                </a:solidFill>
                <a:latin typeface="Calibri"/>
                <a:ea typeface="Calibri"/>
                <a:cs typeface="Calibri"/>
                <a:sym typeface="Calibri"/>
              </a:rPr>
              <a:t>Resultado obtenido: -75 dBm, correspondiente a una conexión excelente.</a:t>
            </a:r>
            <a:endParaRPr b="1" sz="978">
              <a:solidFill>
                <a:srgbClr val="0B3D5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B3D5C"/>
              </a:buClr>
              <a:buSzPts val="978"/>
              <a:buFont typeface="Calibri"/>
              <a:buNone/>
            </a:pPr>
            <a:r>
              <a:t/>
            </a:r>
            <a:endParaRPr b="1" sz="978">
              <a:solidFill>
                <a:srgbClr val="0B3D5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6446525" y="4900075"/>
            <a:ext cx="5484300" cy="1747500"/>
          </a:xfrm>
          <a:prstGeom prst="rect">
            <a:avLst/>
          </a:prstGeom>
          <a:solidFill>
            <a:srgbClr val="FFFFFF"/>
          </a:solidFill>
          <a:ln cap="flat" cmpd="sng" w="13800">
            <a:solidFill>
              <a:srgbClr val="DDE6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9675" lIns="99400" spcFirstLastPara="1" rIns="99400" wrap="square" tIns="49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5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7"/>
          <p:cNvSpPr txBox="1"/>
          <p:nvPr/>
        </p:nvSpPr>
        <p:spPr>
          <a:xfrm>
            <a:off x="6595633" y="4987459"/>
            <a:ext cx="3379800" cy="27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033"/>
              <a:buFont typeface="Calibri"/>
              <a:buNone/>
            </a:pPr>
            <a:r>
              <a:rPr b="1" lang="en-US" spc="109" sz="1033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PRUEBA 3 · Prueba De Velocidad speedtest</a:t>
            </a:r>
            <a:endParaRPr sz="10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7"/>
          <p:cNvSpPr txBox="1"/>
          <p:nvPr/>
        </p:nvSpPr>
        <p:spPr>
          <a:xfrm>
            <a:off x="6595621" y="5315100"/>
            <a:ext cx="5199600" cy="12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978">
                <a:solidFill>
                  <a:srgbClr val="0B3D5C"/>
                </a:solidFill>
                <a:latin typeface="Calibri"/>
                <a:ea typeface="Calibri"/>
                <a:cs typeface="Calibri"/>
                <a:sym typeface="Calibri"/>
              </a:rPr>
              <a:t>Prueba: Medición de velocidad y latencia mediante la aplicación Speedtest.</a:t>
            </a:r>
            <a:endParaRPr b="1" sz="978">
              <a:solidFill>
                <a:srgbClr val="0B3D5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978">
              <a:solidFill>
                <a:srgbClr val="0B3D5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978">
                <a:solidFill>
                  <a:srgbClr val="0B3D5C"/>
                </a:solidFill>
                <a:latin typeface="Calibri"/>
                <a:ea typeface="Calibri"/>
                <a:cs typeface="Calibri"/>
                <a:sym typeface="Calibri"/>
              </a:rPr>
              <a:t>Resultado esperado: Velocidad de descarga superior a 200 Mbps y una latencia (ping) baja, acorde con el rendimiento esperado de una red 5G SA (Standalone).</a:t>
            </a:r>
            <a:endParaRPr b="1" sz="978">
              <a:solidFill>
                <a:srgbClr val="0B3D5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978">
              <a:solidFill>
                <a:srgbClr val="0B3D5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978">
                <a:solidFill>
                  <a:srgbClr val="0B3D5C"/>
                </a:solidFill>
                <a:latin typeface="Calibri"/>
                <a:ea typeface="Calibri"/>
                <a:cs typeface="Calibri"/>
                <a:sym typeface="Calibri"/>
              </a:rPr>
              <a:t>Resultado obtenido: Velocidad de descarga de 970 Mbps y una latencia de 17 ms, lo que demuestra un excelente rendimiento de la conexión 5G SA, con una alta velocidad de descarga y una baja latencia.</a:t>
            </a:r>
            <a:endParaRPr b="1" sz="978">
              <a:solidFill>
                <a:srgbClr val="0B3D5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D5C"/>
              </a:buClr>
              <a:buSzPts val="978"/>
              <a:buFont typeface="Calibri"/>
              <a:buNone/>
            </a:pPr>
            <a:r>
              <a:t/>
            </a:r>
            <a:endParaRPr b="1" sz="978">
              <a:solidFill>
                <a:srgbClr val="0B3D5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8" name="Google Shape;158;p7" title="Señal mala.jpg"/>
          <p:cNvPicPr preferRelativeResize="0"/>
          <p:nvPr/>
        </p:nvPicPr>
        <p:blipFill rotWithShape="1">
          <a:blip r:embed="rId3">
            <a:alphaModFix/>
          </a:blip>
          <a:srcRect b="33621" l="0" r="0" t="0"/>
          <a:stretch/>
        </p:blipFill>
        <p:spPr>
          <a:xfrm>
            <a:off x="10439025" y="1002850"/>
            <a:ext cx="1491718" cy="188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7" title="Señal Buena.png"/>
          <p:cNvPicPr preferRelativeResize="0"/>
          <p:nvPr/>
        </p:nvPicPr>
        <p:blipFill rotWithShape="1">
          <a:blip r:embed="rId4">
            <a:alphaModFix/>
          </a:blip>
          <a:srcRect b="19833" l="0" r="0" t="5828"/>
          <a:stretch/>
        </p:blipFill>
        <p:spPr>
          <a:xfrm>
            <a:off x="10474625" y="3021513"/>
            <a:ext cx="1420524" cy="1747502"/>
          </a:xfrm>
          <a:prstGeom prst="rect">
            <a:avLst/>
          </a:prstGeom>
          <a:solidFill>
            <a:srgbClr val="FFFFFF"/>
          </a:solidFill>
          <a:ln cap="flat" cmpd="sng" w="13800">
            <a:solidFill>
              <a:srgbClr val="DDE6EC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60" name="Google Shape;160;p7" title="Metro-de-Santiago-entel-5G-telecomunica_001_1080p.mp4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06975" y="1005853"/>
            <a:ext cx="2375345" cy="51358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