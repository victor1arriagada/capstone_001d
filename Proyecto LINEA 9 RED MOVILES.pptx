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aser Arabic Bold" charset="1" panose="00000800000000000000"/>
      <p:regular r:id="rId18"/>
    </p:embeddedFont>
    <p:embeddedFont>
      <p:font typeface="Montaser Arabic Semi-Bold" charset="1" panose="00000700000000000000"/>
      <p:regular r:id="rId19"/>
    </p:embeddedFont>
    <p:embeddedFont>
      <p:font typeface="Montaser Arabic" charset="1" panose="00000500000000000000"/>
      <p:regular r:id="rId20"/>
    </p:embeddedFont>
    <p:embeddedFont>
      <p:font typeface="Montaser Arabic Light" charset="1" panose="00000400000000000000"/>
      <p:regular r:id="rId21"/>
    </p:embeddedFont>
    <p:embeddedFont>
      <p:font typeface="Niconne" charset="1" panose="02000505050000020002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767676"/>
            <a:ext cx="16230600" cy="218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04"/>
              </a:lnSpc>
              <a:spcBef>
                <a:spcPct val="0"/>
              </a:spcBef>
            </a:pPr>
            <a:r>
              <a:rPr lang="en-US" b="true" sz="16304" spc="58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LINEA 9</a:t>
            </a:r>
          </a:p>
        </p:txBody>
      </p:sp>
      <p:sp>
        <p:nvSpPr>
          <p:cNvPr name="AutoShape 3" id="3"/>
          <p:cNvSpPr/>
          <p:nvPr/>
        </p:nvSpPr>
        <p:spPr>
          <a:xfrm>
            <a:off x="3451673" y="2286664"/>
            <a:ext cx="11384653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796115" y="4801288"/>
            <a:ext cx="10372954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Realizado por: </a:t>
            </a:r>
          </a:p>
          <a:p>
            <a:pPr algn="ctr">
              <a:lnSpc>
                <a:spcPts val="2559"/>
              </a:lnSpc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Victor Arriagada</a:t>
            </a:r>
          </a:p>
          <a:p>
            <a:pPr algn="ctr">
              <a:lnSpc>
                <a:spcPts val="2559"/>
              </a:lnSpc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Martin Devia</a:t>
            </a:r>
          </a:p>
          <a:p>
            <a:pPr algn="ctr">
              <a:lnSpc>
                <a:spcPts val="2559"/>
              </a:lnSpc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Sebastian Jara</a:t>
            </a:r>
          </a:p>
          <a:p>
            <a:pPr algn="ctr">
              <a:lnSpc>
                <a:spcPts val="2559"/>
              </a:lnSpc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Emilio Yañez</a:t>
            </a:r>
          </a:p>
          <a:p>
            <a:pPr algn="ctr" marL="460471" indent="-230235" lvl="1">
              <a:lnSpc>
                <a:spcPts val="2559"/>
              </a:lnSpc>
              <a:buFont typeface="Arial"/>
              <a:buChar char="•"/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Asignatura: Proyecto Capstone (PTY4624 - 001D)</a:t>
            </a:r>
          </a:p>
          <a:p>
            <a:pPr algn="ctr" marL="460471" indent="-230235" lvl="1">
              <a:lnSpc>
                <a:spcPts val="2559"/>
              </a:lnSpc>
              <a:buFont typeface="Arial"/>
              <a:buChar char="•"/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Carrera: Ingeniería en Conectividad y Redes</a:t>
            </a:r>
          </a:p>
          <a:p>
            <a:pPr algn="ctr" marL="460471" indent="-230235" lvl="1">
              <a:lnSpc>
                <a:spcPts val="2559"/>
              </a:lnSpc>
              <a:buFont typeface="Arial"/>
              <a:buChar char="•"/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Institución: Duoc UC — Sede San Joaquín</a:t>
            </a:r>
          </a:p>
          <a:p>
            <a:pPr algn="ctr" marL="460471" indent="-230235" lvl="1">
              <a:lnSpc>
                <a:spcPts val="2559"/>
              </a:lnSpc>
              <a:buFont typeface="Arial"/>
              <a:buChar char="•"/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Docente: Claudia Gabriela Reinoso Hurtado</a:t>
            </a:r>
          </a:p>
          <a:p>
            <a:pPr algn="ctr" marL="0" indent="0" lvl="0">
              <a:lnSpc>
                <a:spcPts val="2559"/>
              </a:lnSpc>
              <a:spcBef>
                <a:spcPct val="0"/>
              </a:spcBef>
            </a:pPr>
          </a:p>
        </p:txBody>
      </p: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295337" y="1735610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8"/>
                </a:lnTo>
                <a:lnTo>
                  <a:pt x="0" y="1102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91849" y="1735610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8"/>
                </a:lnTo>
                <a:lnTo>
                  <a:pt x="0" y="1102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94681" y="480633"/>
            <a:ext cx="5298639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Proyecto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20548"/>
            <a:ext cx="15765720" cy="895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01. Contexto y Problematíca 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Descripcion del proyecto 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03. Vinculo con el perfil de egreso 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04. Relación con intereses profesionales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05. Factibilidad 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06.Objetivos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07. Metodología 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08. Evidencias comprometidas — tabla con evidencias y tipo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09. Plan de trabajo y Carta Gantt —</a:t>
            </a:r>
          </a:p>
          <a:p>
            <a:pPr algn="l" marL="655223" indent="-327612" lvl="1">
              <a:lnSpc>
                <a:spcPts val="5493"/>
              </a:lnSpc>
              <a:buAutoNum type="arabicPeriod" startAt="1"/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Cierre — próximos pasos hacia Fase 2, y espacio para preguntas.</a:t>
            </a:r>
          </a:p>
          <a:p>
            <a:pPr algn="just">
              <a:lnSpc>
                <a:spcPts val="5493"/>
              </a:lnSpc>
            </a:pPr>
          </a:p>
          <a:p>
            <a:pPr algn="just">
              <a:lnSpc>
                <a:spcPts val="5493"/>
              </a:lnSpc>
            </a:pPr>
          </a:p>
          <a:p>
            <a:pPr algn="just">
              <a:lnSpc>
                <a:spcPts val="5493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326340" y="685033"/>
            <a:ext cx="11635320" cy="154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688"/>
              </a:lnSpc>
              <a:spcBef>
                <a:spcPct val="0"/>
              </a:spcBef>
            </a:pPr>
            <a:r>
              <a:rPr lang="en-US" b="true" sz="11688" spc="42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CONTENIDO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93733" y="2011476"/>
            <a:ext cx="865567" cy="865567"/>
          </a:xfrm>
          <a:custGeom>
            <a:avLst/>
            <a:gdLst/>
            <a:ahLst/>
            <a:cxnLst/>
            <a:rect r="r" b="b" t="t" l="l"/>
            <a:pathLst>
              <a:path h="865567" w="865567">
                <a:moveTo>
                  <a:pt x="0" y="0"/>
                </a:moveTo>
                <a:lnTo>
                  <a:pt x="865567" y="0"/>
                </a:lnTo>
                <a:lnTo>
                  <a:pt x="865567" y="865567"/>
                </a:lnTo>
                <a:lnTo>
                  <a:pt x="0" y="865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8430" y="542158"/>
            <a:ext cx="17589725" cy="99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0"/>
              </a:lnSpc>
            </a:pPr>
            <a:r>
              <a:rPr lang="en-US" b="true" sz="708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CONTEXTO Y PROBLEMÁTICA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64963" y="2498150"/>
            <a:ext cx="13158073" cy="626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Dónde se sitúa: Futura Línea 9 de Metro de Santiago, con un trazado de 27 km 100% subterráneo y 14 estaciones que conectarán el sector centro-sur de la Región Metropolitana.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Qué problema resuelve: Las profundidades operativas (&gt;25 metros) y los muros perimetrales de hormigón armado generan un efecto jaula de Faraday, bloqueando las señales celulares externas (atenuación superior a 90 dB).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 quién impacta: A más de 1 millón de usuarios proyectados al día, quienes experimentan "blackout" de conectividad: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Imposibilidad de validar pasajes con código QR / Bip! digital y abrir aplicaciones bancarias en boleterías y torniquetes.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Caída total de llamadas, mensajes de emergencia y datos dentro del tren en movimiento durante el trayecto interestación.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011476"/>
            <a:ext cx="865567" cy="865567"/>
          </a:xfrm>
          <a:custGeom>
            <a:avLst/>
            <a:gdLst/>
            <a:ahLst/>
            <a:cxnLst/>
            <a:rect r="r" b="b" t="t" l="l"/>
            <a:pathLst>
              <a:path h="865567" w="865567">
                <a:moveTo>
                  <a:pt x="0" y="0"/>
                </a:moveTo>
                <a:lnTo>
                  <a:pt x="865567" y="0"/>
                </a:lnTo>
                <a:lnTo>
                  <a:pt x="865567" y="865567"/>
                </a:lnTo>
                <a:lnTo>
                  <a:pt x="0" y="865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6769" y="808987"/>
            <a:ext cx="13862141" cy="190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6999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DESCRIPCIÓN DEL </a:t>
            </a:r>
          </a:p>
          <a:p>
            <a:pPr algn="l">
              <a:lnSpc>
                <a:spcPts val="7419"/>
              </a:lnSpc>
            </a:pPr>
            <a:r>
              <a:rPr lang="en-US" sz="6999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PROYECTO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870482" y="-1325188"/>
            <a:ext cx="2646728" cy="12435691"/>
            <a:chOff x="0" y="0"/>
            <a:chExt cx="697081" cy="32752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7081" cy="3275244"/>
            </a:xfrm>
            <a:custGeom>
              <a:avLst/>
              <a:gdLst/>
              <a:ahLst/>
              <a:cxnLst/>
              <a:rect r="r" b="b" t="t" l="l"/>
              <a:pathLst>
                <a:path h="3275244" w="697081">
                  <a:moveTo>
                    <a:pt x="0" y="0"/>
                  </a:moveTo>
                  <a:lnTo>
                    <a:pt x="697081" y="0"/>
                  </a:lnTo>
                  <a:lnTo>
                    <a:pt x="697081" y="3275244"/>
                  </a:lnTo>
                  <a:lnTo>
                    <a:pt x="0" y="3275244"/>
                  </a:lnTo>
                  <a:close/>
                </a:path>
              </a:pathLst>
            </a:custGeom>
            <a:solidFill>
              <a:srgbClr val="BC8D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97081" cy="3303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6769" y="2914647"/>
            <a:ext cx="12830576" cy="535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Qué es: Diseño de una infraestructura de telecomunicaciones subterránea de alta velocidad basada en Cable Radiante (Leaky Feeder), Sistemas de Antenas Distribuidas (DAS Activo), un backbone de Fibra Óptica OS2.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Objetivo general resumido: Proporcionar conectividad continua 5G a lo largo de los 27 km de la Línea 9, garantizando sesiones ininterrumpidas a 80 km/h y aislando el tráfico público de los sistemas críticos del tren.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 qué consiste abordarlo: Modelar e integrar radiofrecuencia confinada en túneles con una red de transporte óptico de 10G/40G de estándar industrial, resolviendo la conmutación de señal (handover) sin interferir con la señalización y control ferroviario.</a:t>
            </a:r>
          </a:p>
          <a:p>
            <a:pPr algn="l">
              <a:lnSpc>
                <a:spcPts val="2713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61369" y="-1005934"/>
            <a:ext cx="5024430" cy="12435691"/>
            <a:chOff x="0" y="0"/>
            <a:chExt cx="1323307" cy="3275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3307" cy="3275244"/>
            </a:xfrm>
            <a:custGeom>
              <a:avLst/>
              <a:gdLst/>
              <a:ahLst/>
              <a:cxnLst/>
              <a:rect r="r" b="b" t="t" l="l"/>
              <a:pathLst>
                <a:path h="3275244" w="1323307">
                  <a:moveTo>
                    <a:pt x="0" y="0"/>
                  </a:moveTo>
                  <a:lnTo>
                    <a:pt x="1323307" y="0"/>
                  </a:lnTo>
                  <a:lnTo>
                    <a:pt x="1323307" y="3275244"/>
                  </a:lnTo>
                  <a:lnTo>
                    <a:pt x="0" y="3275244"/>
                  </a:lnTo>
                  <a:close/>
                </a:path>
              </a:pathLst>
            </a:custGeom>
            <a:solidFill>
              <a:srgbClr val="BC8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23307" cy="3303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3466" y="2792747"/>
            <a:ext cx="14489886" cy="719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Competencia 1: Diseñar arquitecturas de transporte y redes ópticas de alta capacidad y disponibilidad.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Área de desempeño: Infraestructura de Redes y Telecomunicaciones (Backbone de Fibra Óptica OS2 a 10G/40G en anillo redundante).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Competencia 2: Planificar e implementar sistemas de radiofrecuencia y conectividad inalámbrica en entornos confinados o de alta complejidad.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Área de desempeño: Comunicaciones Inalámbricas y Móviles (DAS Activo multioperador y Cable Radiante para 4G/5G).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Competencia 3: Implementar esquemas de seguridad de red y segmentación de tráfico según estándares de la industria.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Área de desempeño: Ciberseguridad y Redes Industriales (Aislamiento físico y lógico de redes públicas IT respecto a redes críticas de tracción/control OT bajo IEC 62443).</a:t>
            </a: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88258" y="382371"/>
            <a:ext cx="14473111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VÍNCULO CON EL PERFIL DE EGRESO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1377" y="418333"/>
            <a:ext cx="11242433" cy="416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Por qué este proyecto: Aplica ingeniería de telecomunicaciones avanzada a un desafío real de transporte masivo de escala metropolitana, saliendo del diseño tradicional de oficina para abordar entornos subterráneos hostiles.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Aporte al desarrollo profesional: Especialización en diseño de infraestructura Neutral Host (multioperador), cálculo de radiofrecuencia subterránea y arquitectura de redes de misión crítica, áreas de alta demanda en minería, túneles y transporte ferroviario.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29967" y="342133"/>
            <a:ext cx="9389386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RELACIÓN CON INTERESES PROFESIONALES</a:t>
            </a:r>
          </a:p>
        </p:txBody>
      </p:sp>
      <p:sp>
        <p:nvSpPr>
          <p:cNvPr name="AutoShape 4" id="4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29967" y="4302392"/>
            <a:ext cx="14656527" cy="584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Recurs</a:t>
            </a: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os y Tiempo: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Tiempo disponible: 16 semanas académicas estructuradas entre la formulación técnica (Fase 1) y el modelamiento/validación (Fase 2).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Recursos técnicos: Hojas de datos de fabricantes (RFS, CommScope, Corning), software de diseño y simulación de redes/RF (GNS3, Cisco Packet Tracer, calculadores de presupuesto de enlace óptico y RF) y documentación técnica de Metro.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Factores Externos: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Facilitadores: Existencia de estándares maduros (3GPP Release 16/17 para 5G  y especificaciones públicas de obras civiles de Metro.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Dificultadores: Imposibilidad de realizar mediciones directas en terreno durante la etapa de construcción civil (se aborda mediante modelamiento paramétrico y estándares de atenuación en túneles).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472131" y="2581216"/>
          <a:ext cx="7315200" cy="603885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639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 b="true">
                          <a:solidFill>
                            <a:srgbClr val="000000"/>
                          </a:solidFill>
                          <a:latin typeface="Montaser Arabic Bold"/>
                          <a:ea typeface="Montaser Arabic Bold"/>
                          <a:cs typeface="Montaser Arabic Bold"/>
                          <a:sym typeface="Montaser Arabic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 b="true">
                          <a:solidFill>
                            <a:srgbClr val="000000"/>
                          </a:solidFill>
                          <a:latin typeface="Montaser Arabic Bold"/>
                          <a:ea typeface="Montaser Arabic Bold"/>
                          <a:cs typeface="Montaser Arabic Bold"/>
                          <a:sym typeface="Montaser Arabic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 b="true">
                          <a:solidFill>
                            <a:srgbClr val="000000"/>
                          </a:solidFill>
                          <a:latin typeface="Montaser Arabic Bold"/>
                          <a:ea typeface="Montaser Arabic Bold"/>
                          <a:cs typeface="Montaser Arabic Bold"/>
                          <a:sym typeface="Montaser Arabic Bold"/>
                        </a:rPr>
                        <a:t>MITIGACIÓN TÉCNICA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26168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Pérdida de potencia RF por curvaturas y longitud de túnel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A</a:t>
                      </a: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Cálculo estricto de Link Budget, selección de cable radiante de bajas pérdidas (1-1/4") e inserción de amplificadores de línea bidireccionales.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80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Interferencia con sistemas críticos de Metro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Crítico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Separación física de hilos de fibra óptica (fibra oscura exclusiva para OT) y segmentación por VRF/VLAN sin ruteo hacia la red CBTC.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244599" y="652108"/>
            <a:ext cx="13637306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FACTIBILIDAD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5766" y="1066800"/>
            <a:ext cx="7608234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b="true" sz="6999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OBJETIVOS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192315" y="612415"/>
            <a:ext cx="559181" cy="296366"/>
          </a:xfrm>
          <a:custGeom>
            <a:avLst/>
            <a:gdLst/>
            <a:ahLst/>
            <a:cxnLst/>
            <a:rect r="r" b="b" t="t" l="l"/>
            <a:pathLst>
              <a:path h="296366" w="559181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73084" y="2789941"/>
            <a:ext cx="14541832" cy="565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885" spc="4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Objetivo General: 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1885" spc="4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Diseñar la arquitectura integral de telecomunicaciones subterránea (5G, Wi-Fi 6 y Fibra Óptica) para los 27 km de la Línea 9 de Metro, garantizando continuidad de servicio a 80 km/h y aislamiento de la red operativa.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1885" spc="4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Objetivos Específicos:</a:t>
            </a:r>
          </a:p>
          <a:p>
            <a:pPr algn="l">
              <a:lnSpc>
                <a:spcPts val="2640"/>
              </a:lnSpc>
            </a:pPr>
          </a:p>
          <a:p>
            <a:pPr algn="l" marL="407165" indent="-203583" lvl="1">
              <a:lnSpc>
                <a:spcPts val="2640"/>
              </a:lnSpc>
              <a:buAutoNum type="arabicPeriod" startAt="1"/>
            </a:pPr>
            <a:r>
              <a:rPr lang="en-US" sz="1885" spc="4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Dimensionar la cobertura RF en túneles mediante cable radiante (Leaky Feeder) para soportar 4G/5G multioperador y mitigar el corte de señal (handover).</a:t>
            </a:r>
          </a:p>
          <a:p>
            <a:pPr algn="l" marL="407165" indent="-203583" lvl="1">
              <a:lnSpc>
                <a:spcPts val="2640"/>
              </a:lnSpc>
              <a:buAutoNum type="arabicPeriod" startAt="1"/>
            </a:pPr>
            <a:r>
              <a:rPr lang="en-US" sz="1885" spc="4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Diseñar el sistema DAS Activo y puntos de acceso Wi-Fi 6 en boleterías, mezzaninas y andenes para soportar alta concurrencia y validación digital de pasajes.</a:t>
            </a:r>
          </a:p>
          <a:p>
            <a:pPr algn="l" marL="407165" indent="-203583" lvl="1">
              <a:lnSpc>
                <a:spcPts val="2640"/>
              </a:lnSpc>
              <a:buAutoNum type="arabicPeriod" startAt="1"/>
            </a:pPr>
            <a:r>
              <a:rPr lang="en-US" sz="1885" spc="4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Estructurar el backbone de fibra óptica monomodo OS2 a 10G/40G en topología de doble anillo redundante interconectando las 14 estaciones.</a:t>
            </a:r>
          </a:p>
          <a:p>
            <a:pPr algn="l" marL="407165" indent="-203583" lvl="1">
              <a:lnSpc>
                <a:spcPts val="2640"/>
              </a:lnSpc>
              <a:buAutoNum type="arabicPeriod" startAt="1"/>
            </a:pPr>
            <a:r>
              <a:rPr lang="en-US" sz="1885" spc="4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Definir las directrices de ciberseguridad y segmentación de red (OT vs. IT) para salvaguardar los sistemas de tracción, señalización y control de trenes.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20063" y="-735305"/>
            <a:ext cx="5099886" cy="12435691"/>
            <a:chOff x="0" y="0"/>
            <a:chExt cx="1343180" cy="3275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180" cy="3275244"/>
            </a:xfrm>
            <a:custGeom>
              <a:avLst/>
              <a:gdLst/>
              <a:ahLst/>
              <a:cxnLst/>
              <a:rect r="r" b="b" t="t" l="l"/>
              <a:pathLst>
                <a:path h="3275244" w="1343180">
                  <a:moveTo>
                    <a:pt x="0" y="0"/>
                  </a:moveTo>
                  <a:lnTo>
                    <a:pt x="1343180" y="0"/>
                  </a:lnTo>
                  <a:lnTo>
                    <a:pt x="1343180" y="3275244"/>
                  </a:lnTo>
                  <a:lnTo>
                    <a:pt x="0" y="3275244"/>
                  </a:lnTo>
                  <a:close/>
                </a:path>
              </a:pathLst>
            </a:custGeom>
            <a:solidFill>
              <a:srgbClr val="BC8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43180" cy="3303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836956" y="579290"/>
            <a:ext cx="9036496" cy="120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b="true" sz="7000" spc="23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METODOLOGIA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18921" y="4583814"/>
            <a:ext cx="7654531" cy="445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Roles y Responsabilidades (Desglose de Trabajo):</a:t>
            </a:r>
          </a:p>
          <a:p>
            <a:pPr algn="l">
              <a:lnSpc>
                <a:spcPts val="2733"/>
              </a:lnSpc>
            </a:pPr>
          </a:p>
          <a:p>
            <a:pPr algn="l" marL="421565" indent="-210783" lvl="1">
              <a:lnSpc>
                <a:spcPts val="2733"/>
              </a:lnSpc>
              <a:buFont typeface="Arial"/>
              <a:buChar char="•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Especialista en Transporte y Redes IP: Diseño del backbone de fibra óptica OS2, dimensionamiento de switches troncales, topología de anillo y QoS.</a:t>
            </a:r>
          </a:p>
          <a:p>
            <a:pPr algn="l" marL="421565" indent="-210783" lvl="1">
              <a:lnSpc>
                <a:spcPts val="2733"/>
              </a:lnSpc>
              <a:buFont typeface="Arial"/>
              <a:buChar char="•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Especialista en Radiofrecuencia Subterránea: Cálculo de atenuación, presupuesto de enlace RF, especificación de cable radiante (Leaky Feeder) y celdas DAS.</a:t>
            </a:r>
          </a:p>
          <a:p>
            <a:pPr algn="l" marL="421565" indent="-210783" lvl="1">
              <a:lnSpc>
                <a:spcPts val="2733"/>
              </a:lnSpc>
              <a:buFont typeface="Arial"/>
              <a:buChar char="•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Especialista en Ciberseguridad e Infraestructura: Configuración de arquitectura Wi-Fi 6, matrices de segmentación OT/IT bajo estándar IEC 62443 y documentación final.</a:t>
            </a:r>
          </a:p>
          <a:p>
            <a:pPr algn="just">
              <a:lnSpc>
                <a:spcPts val="2733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054340" y="1522512"/>
            <a:ext cx="6408098" cy="719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Etapas de Trabajo:</a:t>
            </a:r>
          </a:p>
          <a:p>
            <a:pPr algn="l">
              <a:lnSpc>
                <a:spcPts val="2733"/>
              </a:lnSpc>
            </a:pPr>
          </a:p>
          <a:p>
            <a:pPr algn="l" marL="421565" indent="-210783" lvl="1">
              <a:lnSpc>
                <a:spcPts val="2733"/>
              </a:lnSpc>
              <a:buAutoNum type="arabicPeriod" startAt="1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Fase de Diagnóstico y Requerimientos: Análisis del trazado de 27 km, cotas de profundidad, cálculo de atenuación de hormigón y demanda de tráfico.</a:t>
            </a:r>
          </a:p>
          <a:p>
            <a:pPr algn="l">
              <a:lnSpc>
                <a:spcPts val="2733"/>
              </a:lnSpc>
            </a:pPr>
          </a:p>
          <a:p>
            <a:pPr algn="l" marL="421565" indent="-210783" lvl="1">
              <a:lnSpc>
                <a:spcPts val="2733"/>
              </a:lnSpc>
              <a:buAutoNum type="arabicPeriod" startAt="1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Fase de Ingeniería de Radiofrecuencia: Cálculo de presupuesto de enlace (Link Budget), distribución de antenas DAS y tendido de cable radiante.</a:t>
            </a:r>
          </a:p>
          <a:p>
            <a:pPr algn="l">
              <a:lnSpc>
                <a:spcPts val="2733"/>
              </a:lnSpc>
            </a:pPr>
          </a:p>
          <a:p>
            <a:pPr algn="l" marL="421565" indent="-210783" lvl="1">
              <a:lnSpc>
                <a:spcPts val="2733"/>
              </a:lnSpc>
              <a:buAutoNum type="arabicPeriod" startAt="1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Fase de Arquitectura de Red y Transporte: Diseño de topología de fibra OS2, cálculo de atenuación óptica, direccionamiento IP y políticas de QoS.</a:t>
            </a:r>
          </a:p>
          <a:p>
            <a:pPr algn="l">
              <a:lnSpc>
                <a:spcPts val="2733"/>
              </a:lnSpc>
            </a:pPr>
          </a:p>
          <a:p>
            <a:pPr algn="l" marL="421565" indent="-210783" lvl="1">
              <a:lnSpc>
                <a:spcPts val="2733"/>
              </a:lnSpc>
              <a:buAutoNum type="arabicPeriod" startAt="1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Fase de Seguridad e Integración: Definición de matrices de aislamiento OT/IT y validación de redundancia ante cortes de fibra.</a:t>
            </a:r>
          </a:p>
          <a:p>
            <a:pPr algn="just">
              <a:lnSpc>
                <a:spcPts val="2733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4721" y="10008002"/>
            <a:ext cx="21215185" cy="3017688"/>
            <a:chOff x="0" y="0"/>
            <a:chExt cx="5587539" cy="7947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7538" cy="794782"/>
            </a:xfrm>
            <a:custGeom>
              <a:avLst/>
              <a:gdLst/>
              <a:ahLst/>
              <a:cxnLst/>
              <a:rect r="r" b="b" t="t" l="l"/>
              <a:pathLst>
                <a:path h="794782" w="5587538">
                  <a:moveTo>
                    <a:pt x="0" y="0"/>
                  </a:moveTo>
                  <a:lnTo>
                    <a:pt x="5587538" y="0"/>
                  </a:lnTo>
                  <a:lnTo>
                    <a:pt x="5587538" y="794782"/>
                  </a:lnTo>
                  <a:lnTo>
                    <a:pt x="0" y="794782"/>
                  </a:lnTo>
                  <a:close/>
                </a:path>
              </a:pathLst>
            </a:custGeom>
            <a:solidFill>
              <a:srgbClr val="BC8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587539" cy="82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93808" y="6242497"/>
            <a:ext cx="665056" cy="691866"/>
          </a:xfrm>
          <a:custGeom>
            <a:avLst/>
            <a:gdLst/>
            <a:ahLst/>
            <a:cxnLst/>
            <a:rect r="r" b="b" t="t" l="l"/>
            <a:pathLst>
              <a:path h="691866" w="665056">
                <a:moveTo>
                  <a:pt x="0" y="0"/>
                </a:moveTo>
                <a:lnTo>
                  <a:pt x="665056" y="0"/>
                </a:lnTo>
                <a:lnTo>
                  <a:pt x="665056" y="691866"/>
                </a:lnTo>
                <a:lnTo>
                  <a:pt x="0" y="691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93808" y="7327283"/>
            <a:ext cx="665056" cy="691866"/>
          </a:xfrm>
          <a:custGeom>
            <a:avLst/>
            <a:gdLst/>
            <a:ahLst/>
            <a:cxnLst/>
            <a:rect r="r" b="b" t="t" l="l"/>
            <a:pathLst>
              <a:path h="691866" w="665056">
                <a:moveTo>
                  <a:pt x="0" y="0"/>
                </a:moveTo>
                <a:lnTo>
                  <a:pt x="665056" y="0"/>
                </a:lnTo>
                <a:lnTo>
                  <a:pt x="665056" y="691865"/>
                </a:lnTo>
                <a:lnTo>
                  <a:pt x="0" y="69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60483" y="5329504"/>
            <a:ext cx="491286" cy="506955"/>
          </a:xfrm>
          <a:custGeom>
            <a:avLst/>
            <a:gdLst/>
            <a:ahLst/>
            <a:cxnLst/>
            <a:rect r="r" b="b" t="t" l="l"/>
            <a:pathLst>
              <a:path h="506955" w="491286">
                <a:moveTo>
                  <a:pt x="0" y="0"/>
                </a:moveTo>
                <a:lnTo>
                  <a:pt x="491286" y="0"/>
                </a:lnTo>
                <a:lnTo>
                  <a:pt x="491286" y="506955"/>
                </a:lnTo>
                <a:lnTo>
                  <a:pt x="0" y="506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5486400" y="1626695"/>
          <a:ext cx="7315200" cy="81153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239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 b="true">
                          <a:solidFill>
                            <a:srgbClr val="000000"/>
                          </a:solidFill>
                          <a:latin typeface="Montaser Arabic Bold"/>
                          <a:ea typeface="Montaser Arabic Bold"/>
                          <a:cs typeface="Montaser Arabic Bold"/>
                          <a:sym typeface="Montaser Arabic Bold"/>
                        </a:rPr>
                        <a:t>EVIDENCIA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 b="true">
                          <a:solidFill>
                            <a:srgbClr val="000000"/>
                          </a:solidFill>
                          <a:latin typeface="Montaser Arabic Bold"/>
                          <a:ea typeface="Montaser Arabic Bold"/>
                          <a:cs typeface="Montaser Arabic Bold"/>
                          <a:sym typeface="Montaser Arabic Bold"/>
                        </a:rPr>
                        <a:t>TIPO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 b="true">
                          <a:solidFill>
                            <a:srgbClr val="000000"/>
                          </a:solidFill>
                          <a:latin typeface="Montaser Arabic Bold"/>
                          <a:ea typeface="Montaser Arabic Bold"/>
                          <a:cs typeface="Montaser Arabic Bold"/>
                          <a:sym typeface="Montaser Arabic Bold"/>
                        </a:rPr>
                        <a:t>DESCRIPCIÓN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15790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Informe Técnico de Arquitectura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Documento escrito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Memoria descriptiva con especificaciones de fibra, DAS, Wi-Fi 6 y cable radiante.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74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Topología y Diagrama de 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Esquema técnico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Planos de topología lógica y física del backbone en anillo y distribución en estación.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74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Memoria de Cálculo de Enlaces (RF y Óptico)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Archivo de cálculo / Hoja técnica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Presupuesto de potencia óptica (loss budget) y balance de enlace RF subterráneo en dB.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74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Matriz de Segmentación de Red (OT/IT)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Matriz de seguridad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Tabla de asignación de VLANs, VRFs y reglas de aislamiento conforme a IEC 62443.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323905" y="351038"/>
            <a:ext cx="1564019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b="true" sz="660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EVIDENCIAS COMPROMETIDAS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053583" y="670885"/>
            <a:ext cx="14530322" cy="8945229"/>
          </a:xfrm>
          <a:custGeom>
            <a:avLst/>
            <a:gdLst/>
            <a:ahLst/>
            <a:cxnLst/>
            <a:rect r="r" b="b" t="t" l="l"/>
            <a:pathLst>
              <a:path h="8945229" w="14530322">
                <a:moveTo>
                  <a:pt x="0" y="0"/>
                </a:moveTo>
                <a:lnTo>
                  <a:pt x="14530322" y="0"/>
                </a:lnTo>
                <a:lnTo>
                  <a:pt x="14530322" y="8945230"/>
                </a:lnTo>
                <a:lnTo>
                  <a:pt x="0" y="8945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8371" y="391375"/>
            <a:ext cx="9443333" cy="85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6"/>
              </a:lnSpc>
            </a:pPr>
            <a:r>
              <a:rPr lang="en-US" b="true" sz="620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CARTA GANTT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995862"/>
            <a:ext cx="16230600" cy="218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04"/>
              </a:lnSpc>
              <a:spcBef>
                <a:spcPct val="0"/>
              </a:spcBef>
            </a:pPr>
            <a:r>
              <a:rPr lang="en-US" b="true" sz="16304" spc="58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GRACIAS</a:t>
            </a:r>
          </a:p>
        </p:txBody>
      </p:sp>
      <p:sp>
        <p:nvSpPr>
          <p:cNvPr name="AutoShape 3" id="3"/>
          <p:cNvSpPr/>
          <p:nvPr/>
        </p:nvSpPr>
        <p:spPr>
          <a:xfrm>
            <a:off x="3502178" y="4652264"/>
            <a:ext cx="11384653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451673" y="2796256"/>
            <a:ext cx="11384653" cy="196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845"/>
              </a:lnSpc>
              <a:spcBef>
                <a:spcPct val="0"/>
              </a:spcBef>
            </a:pPr>
            <a:r>
              <a:rPr lang="en-US" sz="14845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Muchas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18930" y="7555566"/>
            <a:ext cx="1005013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9"/>
              </a:lnSpc>
              <a:spcBef>
                <a:spcPct val="0"/>
              </a:spcBef>
            </a:pPr>
            <a:r>
              <a:rPr lang="en-US" b="true" sz="2132" spc="140">
                <a:solidFill>
                  <a:srgbClr val="1E1E1E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www.unsitiogenial.es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14170" y="1028700"/>
            <a:ext cx="564513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94"/>
              </a:lnSpc>
              <a:spcBef>
                <a:spcPct val="0"/>
              </a:spcBef>
            </a:pPr>
            <a:r>
              <a:rPr lang="en-US" b="true" sz="1912" spc="105">
                <a:solidFill>
                  <a:srgbClr val="BC8D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JUNIO 2030</a:t>
            </a:r>
          </a:p>
        </p:txBody>
      </p:sp>
      <p:sp>
        <p:nvSpPr>
          <p:cNvPr name="AutoShape 7" id="7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1028700"/>
            <a:ext cx="564513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4"/>
              </a:lnSpc>
              <a:spcBef>
                <a:spcPct val="0"/>
              </a:spcBef>
            </a:pPr>
            <a:r>
              <a:rPr lang="en-US" b="true" sz="1912" spc="105">
                <a:solidFill>
                  <a:srgbClr val="BC8D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CENTRO BORCELLE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628186" y="4083557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7"/>
                </a:lnTo>
                <a:lnTo>
                  <a:pt x="0" y="11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57706" y="4101211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7"/>
                </a:lnTo>
                <a:lnTo>
                  <a:pt x="0" y="11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DAHT6GJU7t0</dc:identifier>
  <dcterms:modified xsi:type="dcterms:W3CDTF">2011-08-01T06:04:30Z</dcterms:modified>
  <cp:revision>1</cp:revision>
  <dc:title>Presentación Diapositivas Proyecto Creativo Minimalista Negro y Morado</dc:title>
</cp:coreProperties>
</file>