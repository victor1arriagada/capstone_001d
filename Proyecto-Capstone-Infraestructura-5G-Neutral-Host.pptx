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Raleway" pitchFamily="2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00000000000000000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26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81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Proyecto Capstone: Infraestructura 5G Neutral Host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0100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Línea 9 Metro de Santiago — Red Subterránea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</a:rPr>
              <a:t>Integrantes: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</a:rPr>
              <a:t>Victor Arriagada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</a:rPr>
              <a:t>Martin Devia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</a:rPr>
              <a:t>Sebastian Jara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</a:rPr>
              <a:t>Emilio Yañez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56492" y="4433980"/>
            <a:ext cx="260611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0101" y="4488586"/>
            <a:ext cx="301726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INGENIERÍA EN CONECTIVIDAD Y REDES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83520" y="4419268"/>
            <a:ext cx="1563252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3680" y="4468877"/>
            <a:ext cx="197440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PROYECTO CAPSTONE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433482" y="4427536"/>
            <a:ext cx="87994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62681" y="4521245"/>
            <a:ext cx="129110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2028–2033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0420" y="4968543"/>
            <a:ext cx="10868745" cy="1494830"/>
          </a:xfrm>
          <a:prstGeom prst="roundRect">
            <a:avLst>
              <a:gd name="adj" fmla="val 4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6770" y="4974893"/>
            <a:ext cx="3618616" cy="1482130"/>
          </a:xfrm>
          <a:custGeom>
            <a:avLst/>
            <a:gdLst/>
            <a:ahLst/>
            <a:cxnLst/>
            <a:rect l="l" t="t" r="r" b="b"/>
            <a:pathLst>
              <a:path w="3618616" h="1482130">
                <a:moveTo>
                  <a:pt x="57887" y="0"/>
                </a:moveTo>
                <a:lnTo>
                  <a:pt x="3618616" y="0"/>
                </a:lnTo>
                <a:lnTo>
                  <a:pt x="3618616" y="1482130"/>
                </a:lnTo>
                <a:lnTo>
                  <a:pt x="57887" y="1482130"/>
                </a:lnTo>
                <a:arcTo wR="57887" hR="57888" stAng="5400000" swAng="5400000"/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Text 10"/>
          <p:cNvSpPr/>
          <p:nvPr/>
        </p:nvSpPr>
        <p:spPr>
          <a:xfrm>
            <a:off x="992064" y="5140192"/>
            <a:ext cx="32880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2064" y="5497875"/>
            <a:ext cx="328802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Comisión académica evaluadora, Directivos de Metro de Santiago, Ejecutivos de Entel, Movistar (proximamente Tigo), WOM y Claro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45385" y="4974893"/>
            <a:ext cx="3618715" cy="148213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5385" y="4974893"/>
            <a:ext cx="19050" cy="148213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6" name="Text 14"/>
          <p:cNvSpPr/>
          <p:nvPr/>
        </p:nvSpPr>
        <p:spPr>
          <a:xfrm>
            <a:off x="4610680" y="5140192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Alcance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0680" y="5497875"/>
            <a:ext cx="32881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km de red </a:t>
            </a:r>
            <a:r>
              <a:rPr lang="en-US" sz="13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subterránea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23 estaciones · 2 millones de pasajeros anuales beneficiados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64100" y="4974893"/>
            <a:ext cx="3618715" cy="1482130"/>
          </a:xfrm>
          <a:custGeom>
            <a:avLst/>
            <a:gdLst/>
            <a:ahLst/>
            <a:cxnLst/>
            <a:rect l="l" t="t" r="r" b="b"/>
            <a:pathLst>
              <a:path w="3618715" h="1482130">
                <a:moveTo>
                  <a:pt x="0" y="0"/>
                </a:moveTo>
                <a:lnTo>
                  <a:pt x="3560828" y="0"/>
                </a:lnTo>
                <a:arcTo wR="57887" hR="57888" stAng="16200000" swAng="5400000"/>
                <a:lnTo>
                  <a:pt x="3618715" y="1424241"/>
                </a:lnTo>
                <a:arcTo wR="57887" hR="57888" stAng="0" swAng="5400000"/>
                <a:lnTo>
                  <a:pt x="0" y="1482130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4100" y="4974893"/>
            <a:ext cx="19050" cy="148213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395" y="5140192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Propuesta Central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395" y="5497875"/>
            <a:ext cx="328812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Neutral Host 5G que elimina duplicación de infraestructura y genera ingresos recurrentes para Metro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95177"/>
            <a:ext cx="1885605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1134864"/>
            <a:ext cx="2336444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 — DIAGNÓSTICO DEL 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33856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Internet 0: El Vacío de Conectividad en Túneles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910755"/>
            <a:ext cx="108687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Línea 9 del Metro de Santiago operará en entornos subterráneos donde las estructuras de hormigón y acero generan un efecto Jaula de Faraday que atenúa las señales de radiofrecuencia entre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 y 60 dB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produciendo desconexión total para los pasajeros. Este no es un problema menor: estamos hablando de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millones de pasajeros anuales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sin acceso a conectividad en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 km de red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01317"/>
            <a:ext cx="5381490" cy="11442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978" y="2752626"/>
            <a:ext cx="50026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 Jaula de Faraday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8978" y="3022798"/>
            <a:ext cx="50026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Estructuras de hormigón y acero atenúan señales RF entre 40–60 dB. La señal externa es prácticamente nula en tramos subterráneos, requiriendo infraestructura activa interna obligatoria para cualquier cobertura.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8730" y="2601317"/>
            <a:ext cx="5381490" cy="11442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76233" y="2752626"/>
            <a:ext cx="50026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Operacional Directo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76233" y="3022798"/>
            <a:ext cx="50026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millones de pasajeros anuales experimentan desconexión total durante su trayecto. A velocidades de hasta 80 km/h, el tren recorre túneles sin posibilidad de handover a redes externas.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51374"/>
            <a:ext cx="5381490" cy="11442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8978" y="4002683"/>
            <a:ext cx="50026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Costo de la Inacción Fragmentada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88978" y="4272855"/>
            <a:ext cx="50026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cada operador (Entel, Movistar, WOM, Claro) despliega infraestructura individual, el CAPEX total combinado superaría los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USD 72M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cuatro sistemas paralelos de cableado, antenas y equipos activos en el mismo espacio físico.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8730" y="3851374"/>
            <a:ext cx="5381490" cy="11442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76233" y="4002683"/>
            <a:ext cx="50026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Ineficiencia de Mercado Estructural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76233" y="4272855"/>
            <a:ext cx="50026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duplicación de infraestructura en un entorno físicamente restringido (túneles de sección fija) no es solo costosa — es técnicamente inviable. El espacio disponible no admite cuatro sistemas DAS independientes.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61475" y="5114727"/>
            <a:ext cx="10868745" cy="648097"/>
          </a:xfrm>
          <a:prstGeom prst="roundRect">
            <a:avLst>
              <a:gd name="adj" fmla="val 8575"/>
            </a:avLst>
          </a:prstGeom>
          <a:solidFill>
            <a:srgbClr val="FCF2B5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30" y="5271095"/>
            <a:ext cx="165294" cy="1322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1280" y="5253534"/>
            <a:ext cx="10306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intervención coordinada, la Línea 9 operará sin conectividad móvil funcional desde su apertura en 2030 — repitiendo el problema histórico de otras líneas del Metro de Santiago.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5038"/>
            <a:ext cx="1270762" cy="238820"/>
          </a:xfrm>
          <a:prstGeom prst="roundRect">
            <a:avLst>
              <a:gd name="adj" fmla="val 2210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512167"/>
            <a:ext cx="1691836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 — LA SOLUCIÓN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3488"/>
            <a:ext cx="10868745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Neutral Host 5G: Infraestructura Compartida como Ventaja Competitiva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969195"/>
            <a:ext cx="1086874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Neutral Host propone que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Metro de Santiago actúe como operador neutro de infraestructura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desplegando y gestionando una red pasiva y activa única que arrienda capacidad a los cuatro operadores móviles bajo contratos de SLA garantizados. Esta arquitectura, probada en los metros de París, Singapur y Estocolmo, transforma una necesidad técnica en un modelo de negocio sostenible.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72581"/>
            <a:ext cx="5434373" cy="628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534" y="3650258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Única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534" y="3985320"/>
            <a:ext cx="512025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solo cableado radiante, un solo sistema DAS, un solo hotel de BBUs desplegado a lo largo de los 27 km de túneles.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872581"/>
            <a:ext cx="5434373" cy="628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2907" y="3650258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de Leasing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52907" y="3985320"/>
            <a:ext cx="512025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Contratos recurrentes con Entel, Movistar, WOM y Claro. SLA garantizado: 99.99% disponibilidad, latencia &lt;10 -15 ms.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632722"/>
            <a:ext cx="5434373" cy="628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534" y="5410398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Reducción de CAPEX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18534" y="5745460"/>
            <a:ext cx="512025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Eliminación de duplicación — reducción superior al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60% de CAPEX por operador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De USD 18M a USD 7.5M por operador.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632722"/>
            <a:ext cx="5434373" cy="628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52907" y="5410398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Ingresos Recurrentes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252907" y="5745460"/>
            <a:ext cx="512025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Metro genera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USD 10.6M/año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arriendo. ROI proyectado en 6.5 años con VAN positivo de USD 28M a 10 años.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42107"/>
            <a:ext cx="1527831" cy="188516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1179314"/>
            <a:ext cx="1988592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 — ARQUITECTURA TÉCNICA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367830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Componentes Técnicos del Sistema Neutral Host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72180" y="1894979"/>
            <a:ext cx="5461657" cy="3820815"/>
          </a:xfrm>
          <a:prstGeom prst="roundRect">
            <a:avLst>
              <a:gd name="adj" fmla="val 233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6201" y="1987947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6201" y="2274689"/>
            <a:ext cx="5213616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arquitectura se compone de cinco capas integradas que trabajan en conjunto para garantizar cobertura continua a velocidades de hasta 80 km/h y disponibilidad de 99.99% en los 27 km de trazado subterráneo.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96201" y="2879229"/>
            <a:ext cx="5213616" cy="998339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Cable Radiante (Leaky Feeder) — Capa física de RF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Activo — Cobertura en estaciones y andenes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Hotel de BBUs — Centralización de equipos activos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Backhaul redundante — Fibra óptica multiruta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OSS/BSS — Gestión y facturación centralizada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53502" y="1999555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9985" y="2022773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5563" y="2042120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Cable Radiante — Leaky Feeder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5563" y="2328863"/>
            <a:ext cx="491100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Cobertura continua de RF a lo largo de 27 km. Atenuación controlada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&lt;3 dB/km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compatible con tráfico ferroviario a 80 km/h. Soporte simultáneo de bandas 5G (n78) y LTE legacy.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3502" y="3035796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9985" y="3059013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25563" y="3078361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 Activo — Distributed Antenna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5563" y="3365103"/>
            <a:ext cx="491100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Nodos de cobertura en estaciones, andenes y pasillos de alto flujo. Capacidad de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500+ usuarios simultáneos por estación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balanceo de carga dinámico entre operadores.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3502" y="3898404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9985" y="3921621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25563" y="3940969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Hotel de BBUs — Baseband Units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5563" y="4227711"/>
            <a:ext cx="491100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Centralización de equipos de Entel, Movistar, WOM y Claro en salas técnicas únicas. Reducción de consumo eléctrico en </a:t>
            </a: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35%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versus soluciones distribuidas independientes.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53502" y="4761012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9985" y="4784229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25563" y="4803577"/>
            <a:ext cx="49110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Backhaul y Monitoreo Integrado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5563" y="5090319"/>
            <a:ext cx="491100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Fibra óptica con rutas diversas hacia NOCs de cada operador. Plataforma OSS/BSS centralizada para gestión de SLAs, alarmas en tiempo real y facturación automática por consumo.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15827"/>
            <a:ext cx="1770018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1255514"/>
            <a:ext cx="2220857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 — SEGURIDAD Y AISLAMIENTO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45921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Aislamiento Operativo: Cada Operador en su Propio Dominio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2031405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modelo de infraestructura compartida exige un diseño de seguridad robusto que garantice la independencia operativa de cada operador y la protección irrestricta de los sistemas críticos de Metro. El diseño implementa aislamiento en múltiples capas — lógico, físico y normativo.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475" y="2531467"/>
            <a:ext cx="5381490" cy="1118890"/>
          </a:xfrm>
          <a:prstGeom prst="roundRect">
            <a:avLst>
              <a:gd name="adj" fmla="val 49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080" y="2670076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Aislamiento Lógico — VLANs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0080" y="2940248"/>
            <a:ext cx="5104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VLANs dedicadas por operador con encriptación de tráfico end-to-end. Entel, Movistar, WOM y Claro operan en dominios de red completamente separados, sin posibilidad de acceso cruzado a datos de tráfico de la competencia.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48730" y="2531467"/>
            <a:ext cx="5381490" cy="1118890"/>
          </a:xfrm>
          <a:prstGeom prst="roundRect">
            <a:avLst>
              <a:gd name="adj" fmla="val 49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7335" y="2670076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Aislamiento Físico — Racks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87335" y="2940248"/>
            <a:ext cx="5104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Separación de equipos activos en racks independientes dentro del hotel de BBUs. Acceso físico controlado por operador con auditoría de acceso y trazabilidad completa de intervenciones técnicas.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1475" y="3756124"/>
            <a:ext cx="5381490" cy="1118890"/>
          </a:xfrm>
          <a:prstGeom prst="roundRect">
            <a:avLst>
              <a:gd name="adj" fmla="val 49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080" y="3894733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Protección Sistemas Críticos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080" y="4164905"/>
            <a:ext cx="5104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 cero para CBTC (Control de Trenes por Comunicaciones), señalización ferroviaria, CCTV y comunicaciones de emergencia. Segregación física y lógica absoluta entre tráfico comercial y operaciones ferroviarias.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8730" y="3756124"/>
            <a:ext cx="5381490" cy="1118890"/>
          </a:xfrm>
          <a:prstGeom prst="roundRect">
            <a:avLst>
              <a:gd name="adj" fmla="val 49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7335" y="3894733"/>
            <a:ext cx="51042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Normativo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7335" y="4164905"/>
            <a:ext cx="5104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Alineación con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IEC 62280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(Railway Communication Security) y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NIST Cybersecurity Framework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QoS con políticas de priorización que garantizan supremacía del tráfico ferroviario sobre tráfico comercial de pasajeros.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1475" y="4994077"/>
            <a:ext cx="10868745" cy="648097"/>
          </a:xfrm>
          <a:prstGeom prst="roundRect">
            <a:avLst>
              <a:gd name="adj" fmla="val 8575"/>
            </a:avLst>
          </a:prstGeom>
          <a:solidFill>
            <a:srgbClr val="E1E1EA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150445"/>
            <a:ext cx="165294" cy="1322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91280" y="5132884"/>
            <a:ext cx="10306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segregación de redes garantiza que ningún operador pueda —involuntaria o intencionalmente— afectar la operación de sistemas de seguridad ferroviaria ni la infraestructura de sus competidores.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3670"/>
            <a:ext cx="1140293" cy="152995"/>
          </a:xfrm>
          <a:prstGeom prst="roundRect">
            <a:avLst>
              <a:gd name="adj" fmla="val 2213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21898" y="503833"/>
            <a:ext cx="1629032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 — ANÁLISIS FINANCIERO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651173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Caso de Negocio: Ahorro de CAPEX y Retorno para Metro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1119684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Comparativa CAPEX: Despliegue Individual vs. Neutral Host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46200"/>
            <a:ext cx="3452428" cy="24864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901678"/>
            <a:ext cx="5311444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Neutral Host reduce la inversión inicial requerida por cada operador en más del </a:t>
            </a: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58%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 USD 18M a USD 7.5M — al distribuir el CAPEX total entre los cuatro actores del mercado.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54584" y="1177627"/>
            <a:ext cx="3452428" cy="332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225126" y="1606550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Reducción CAPEX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25126" y="1825427"/>
            <a:ext cx="531144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operador vs. despliegue individual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154584" y="2128341"/>
            <a:ext cx="3452428" cy="332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25126" y="2557264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Reducción OPEX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25126" y="2776141"/>
            <a:ext cx="531144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Mantenimiento, energía y personal centralizado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154584" y="3079055"/>
            <a:ext cx="3452428" cy="332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225126" y="3507978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Años ROI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25126" y="3726855"/>
            <a:ext cx="531144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Recuperación de inversión para Metro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154584" y="4029770"/>
            <a:ext cx="3452428" cy="332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$28M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225126" y="4458692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 a 10 Años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225126" y="4677569"/>
            <a:ext cx="531144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actual neto con tasa de descuento 8%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225126" y="4876403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Composición de Ingresos para Metro (USD/año)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25126" y="5102920"/>
            <a:ext cx="2624965" cy="575469"/>
          </a:xfrm>
          <a:prstGeom prst="roundRect">
            <a:avLst>
              <a:gd name="adj" fmla="val 735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8530" y="5216327"/>
            <a:ext cx="239815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USD 2.5M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38530" y="5435203"/>
            <a:ext cx="239815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Arriendo por ancho de banda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911506" y="5102920"/>
            <a:ext cx="2625064" cy="575469"/>
          </a:xfrm>
          <a:prstGeom prst="roundRect">
            <a:avLst>
              <a:gd name="adj" fmla="val 735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24910" y="5216327"/>
            <a:ext cx="239825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USD 1.8M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024910" y="5435203"/>
            <a:ext cx="239825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de usuarios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225126" y="5739805"/>
            <a:ext cx="5311444" cy="575469"/>
          </a:xfrm>
          <a:prstGeom prst="roundRect">
            <a:avLst>
              <a:gd name="adj" fmla="val 735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38530" y="5853212"/>
            <a:ext cx="50846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USD 1.2M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338530" y="6072088"/>
            <a:ext cx="508463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Acceso a estaciones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07343"/>
            <a:ext cx="1841553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847030"/>
            <a:ext cx="229239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 — CRONOGRAMA ESTRATÉGICO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05072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Fases de Despliegue Alineadas a la Apertura de la Línea 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622921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cronograma de implementación del sistema Neutral Host está diseñado para ejecutarse en paralelo con las obras civiles de la Línea 9, con negociación de acuerdos marco iniciada en 2028 — antes del primer hito de apertura. Las tres fases cubren progresivamente los 27 km de trazado hasta alcanzar cobertura total en 2033.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86323" y="2122984"/>
            <a:ext cx="19050" cy="316041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5569208" y="2262287"/>
            <a:ext cx="396865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8" name="Shape 6"/>
          <p:cNvSpPr/>
          <p:nvPr/>
        </p:nvSpPr>
        <p:spPr>
          <a:xfrm>
            <a:off x="5947023" y="2122984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96631" y="214778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1475" y="2168426"/>
            <a:ext cx="477289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2028–2029: Pre-Construcción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1475" y="2438598"/>
            <a:ext cx="477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Negociación y firma de acuerdos marco de leasing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Entel, Movistar, WOM y Claro. Validación técnica con Metro de Santiago (Q3 2028). Firma de contratos SLA (Q1 2029). Inicio de instalación de infraestructura (Q2 2029).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25622" y="3003153"/>
            <a:ext cx="396865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7023" y="2863850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96631" y="288865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57322" y="2909292"/>
            <a:ext cx="477289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2030: Hito 1 — Tramo Sur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57322" y="3179465"/>
            <a:ext cx="477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Bío Bío → Plaza de La Pintana (12 km)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Puesta en marcha de primera red DAS y BBU Hotel en sector sur.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 estaciones operativas · 450K pasajeros/año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cobertura 5G completa desde el día de apertura.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9208" y="3660874"/>
            <a:ext cx="396865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023" y="3521571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6631" y="354637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1475" y="3567013"/>
            <a:ext cx="477289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2032: Hito 2 — Extensión Centro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475" y="3837186"/>
            <a:ext cx="477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Bío Bío → Cal y Canto (8 km adicionales)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Conexión hacia el centro histórico de Santiago y nodos intermodales con Línea 1 y Línea 3.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 estaciones acumuladas · 1.2M pasajeros/año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beneficiados.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25622" y="4318695"/>
            <a:ext cx="396865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023" y="4179391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96631" y="420419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757322" y="4224834"/>
            <a:ext cx="477289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2033: Hito 3 — Trazado Completo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57322" y="4495006"/>
            <a:ext cx="4772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 Pintana → Plaza de Puente Alto (7 km finales)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Integración del trazado completo: 27 km operando en 5G.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23 estaciones · 2M pasajeros/año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Red Neutral Host en régimen operativo pleno.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1475" y="5402461"/>
            <a:ext cx="10868745" cy="648097"/>
          </a:xfrm>
          <a:prstGeom prst="roundRect">
            <a:avLst>
              <a:gd name="adj" fmla="val 8575"/>
            </a:avLst>
          </a:prstGeom>
          <a:solidFill>
            <a:srgbClr val="E1E1EA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558830"/>
            <a:ext cx="165294" cy="132259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91280" y="5541268"/>
            <a:ext cx="10306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firma de acuerdos marco en Q4 2028 es el hito crítico del camino — garantiza financiamiento comprometido antes de que Metro inicie la instalación de infraestructura activa, eliminando riesgo financiero del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4723"/>
            <a:ext cx="1816253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89372"/>
            <a:ext cx="224724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 — PROPUESTA COMERCIAL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2452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Condiciones Comerciales por Operador Móvil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590576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propuesta comercial ofrece condiciones diferenciadas según la capacidad técnica y el posicionamiento de mercado de cada operador, con SLAs escalonados que reflejan distintos niveles de servicio. Todos los contratos incluyen escalabilidad de ancho de banda según demanda y opciones de renovación a 5 años.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193727"/>
            <a:ext cx="10868745" cy="2342952"/>
          </a:xfrm>
          <a:prstGeom prst="roundRect">
            <a:avLst>
              <a:gd name="adj" fmla="val 266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602905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008908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721497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127500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8122" y="2200077"/>
            <a:ext cx="2171150" cy="402828"/>
          </a:xfrm>
          <a:custGeom>
            <a:avLst/>
            <a:gdLst/>
            <a:ahLst/>
            <a:cxnLst/>
            <a:rect l="l" t="t" r="r" b="b"/>
            <a:pathLst>
              <a:path w="2171150" h="402828">
                <a:moveTo>
                  <a:pt x="52098" y="0"/>
                </a:moveTo>
                <a:lnTo>
                  <a:pt x="2171150" y="0"/>
                </a:lnTo>
                <a:lnTo>
                  <a:pt x="2171150" y="402828"/>
                </a:lnTo>
                <a:lnTo>
                  <a:pt x="0" y="402828"/>
                </a:lnTo>
                <a:lnTo>
                  <a:pt x="0" y="52100"/>
                </a:lnTo>
                <a:arcTo wR="52098" hR="52100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816947" y="2286794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Operador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9272" y="2200077"/>
            <a:ext cx="2171150" cy="40282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2988096" y="2286794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Ancho de Banda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10422" y="2200077"/>
            <a:ext cx="2171150" cy="40282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5159246" y="2286794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SLA Disponibilidad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81571" y="2200077"/>
            <a:ext cx="2171150" cy="40282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330396" y="2286794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Latencia Máx.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52721" y="2200077"/>
            <a:ext cx="2171150" cy="402828"/>
          </a:xfrm>
          <a:custGeom>
            <a:avLst/>
            <a:gdLst/>
            <a:ahLst/>
            <a:cxnLst/>
            <a:rect l="l" t="t" r="r" b="b"/>
            <a:pathLst>
              <a:path w="2171150" h="402828">
                <a:moveTo>
                  <a:pt x="0" y="0"/>
                </a:moveTo>
                <a:lnTo>
                  <a:pt x="2119051" y="0"/>
                </a:lnTo>
                <a:arcTo wR="52098" hR="52100" stAng="16200000" swAng="5400000"/>
                <a:lnTo>
                  <a:pt x="2171150" y="402828"/>
                </a:lnTo>
                <a:lnTo>
                  <a:pt x="0" y="402828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9501545" y="2286794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Arriendo Anual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6947" y="2692797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88096" y="2692797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MHz (n78)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59246" y="2692797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99.99%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30396" y="2692797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&lt;10 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01545" y="2692797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USD 2.8M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6947" y="3098800"/>
            <a:ext cx="1873501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Movistar 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(Tigo proximamente 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88096" y="3098800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MHz (n78)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59246" y="3098800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99.99%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30396" y="3098800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&lt;10 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01545" y="3098800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USD 2.8M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6947" y="3811389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WOM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88096" y="3811389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 MHz (n78)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59246" y="3811389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99.95%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30396" y="3811389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&lt;15 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501545" y="3811389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USD 2.2M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6947" y="4217392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Claro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988096" y="4217392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 MHz (n78)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59246" y="4217392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99.99%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30396" y="4217392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&lt;10 ms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01545" y="4217392"/>
            <a:ext cx="248308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USD 2.8M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61475" y="4821337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Agregado para Operadores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61475" y="5187752"/>
            <a:ext cx="5252807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Cobertura en comunas históricamente postergadas como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 Pintana y San Bernardo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 diferenciación competitiva en el segmento de transporte público masivo. Acceso a zona de alto tráfico sin CAPEX masivo — margen de contribución mejorado en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83763" y="4821337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Flexibilidad Contractual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6283763" y="5187752"/>
            <a:ext cx="5252807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Escalabilidad de ancho de banda según demanda real, con ventanas de revisión anuales. Opciones de renovación a 5 años con ajuste CPI. Penalidades de SLA con restitución automática calculada por la plataforma OSS/BSS centralizada.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0406"/>
            <a:ext cx="928763" cy="176014"/>
          </a:xfrm>
          <a:prstGeom prst="roundRect">
            <a:avLst>
              <a:gd name="adj" fmla="val 22101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30926" y="745133"/>
            <a:ext cx="139944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 — CONCLUSIÓN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918766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Proyecto Viable, Urgente y de Alto Impacto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402060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infraestructura 5G Neutral Host para la Línea 9 es una solución técnicamente probada, financieramente sólida y socialmente necesaria. Combina el interés de Metro por generar ingresos recurrentes, el interés de los operadores por reducir CAPEX, y el interés público de garantizar conectividad equitativa para 2 millones de pasajeros.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1808063"/>
            <a:ext cx="5393892" cy="788491"/>
          </a:xfrm>
          <a:prstGeom prst="roundRect">
            <a:avLst>
              <a:gd name="adj" fmla="val 61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3511" y="1930102"/>
            <a:ext cx="51498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Social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3511" y="2159595"/>
            <a:ext cx="51498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2M beneficiarios directos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Eliminación de brecha digital en transporte público. Acceso equitativo a conectividad 5G en comunas de La Pintana, San Bernardo y el eje centro-sur de Santiago.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36328" y="1808063"/>
            <a:ext cx="5393892" cy="788491"/>
          </a:xfrm>
          <a:prstGeom prst="roundRect">
            <a:avLst>
              <a:gd name="adj" fmla="val 61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8364" y="1930102"/>
            <a:ext cx="51498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Retorno Comercial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58364" y="2159595"/>
            <a:ext cx="51498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USD 10.6M/año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ingresos recurrentes para Metro. Margen operativo mejorado en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22%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operadores móviles. VAN positivo de USD 28M a 10 años con ROI en 6.5 años.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1475" y="2677517"/>
            <a:ext cx="5393892" cy="788491"/>
          </a:xfrm>
          <a:prstGeom prst="roundRect">
            <a:avLst>
              <a:gd name="adj" fmla="val 61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511" y="2799556"/>
            <a:ext cx="51498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Viabilidad Técnica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3511" y="3029049"/>
            <a:ext cx="51498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 probada en metros internacionales: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París, Singapur y Estocolmo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Tecnología 5G madura y disponible. Estándares IEC 62280 y NIST aplicados desde diseño.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36328" y="2677517"/>
            <a:ext cx="5393892" cy="788491"/>
          </a:xfrm>
          <a:prstGeom prst="roundRect">
            <a:avLst>
              <a:gd name="adj" fmla="val 61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8364" y="2799556"/>
            <a:ext cx="51498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Viabilidad Regulatoria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8364" y="3029049"/>
            <a:ext cx="51498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Alineación con el marco de neutralidad de red chileno. Cumplimiento total de estándares de seguridad ferroviaria. Sin conflictos regulatorios identificados en fase de diseño.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1475" y="3587552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Hoja de Ruta: Llamado a la Acción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3889970"/>
            <a:ext cx="5393892" cy="347266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1557" y="3976688"/>
            <a:ext cx="173628" cy="17363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161" y="4318198"/>
            <a:ext cx="51625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Q3 2028 — Validación Técnica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161" y="4547691"/>
            <a:ext cx="516252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 de especificaciones técnicas con equipo de ingeniería de Metro de Santiago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36328" y="3889970"/>
            <a:ext cx="5393892" cy="347266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46410" y="3976688"/>
            <a:ext cx="173628" cy="173633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252014" y="4318198"/>
            <a:ext cx="51625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Q4 2028 — Negociación Comercial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252014" y="4547691"/>
            <a:ext cx="5162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Mesas de negociación simultáneas con Entel, Movistar, WOM y Claro. Cierre de acuerdos marco de leasing con SLAs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61475" y="5059263"/>
            <a:ext cx="5393892" cy="347266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1557" y="5145980"/>
            <a:ext cx="173628" cy="17363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77161" y="5487491"/>
            <a:ext cx="51625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Q1 2029 — Firma de Contratos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77161" y="5716984"/>
            <a:ext cx="5162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Formalización de acuerdos vinculantes. Constitución de garantías y estructuración de pagos recurrentes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136328" y="5059263"/>
            <a:ext cx="5393892" cy="347266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46410" y="5145980"/>
            <a:ext cx="173628" cy="173633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52014" y="5487491"/>
            <a:ext cx="516252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Q2 2029 — Inicio de Instalación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252014" y="5716984"/>
            <a:ext cx="5162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Movilización de equipos e inicio de instalación de infraestructura pasiva en paralelo a obras civiles de Línea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1954</Words>
  <Application>Microsoft Office PowerPoint</Application>
  <PresentationFormat>Panorámica</PresentationFormat>
  <Paragraphs>173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Raleway</vt:lpstr>
      <vt:lpstr>Roboto</vt:lpstr>
      <vt:lpstr>Roboto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Karina Marchant Inostroza</cp:lastModifiedBy>
  <cp:revision>2</cp:revision>
  <dcterms:created xsi:type="dcterms:W3CDTF">2026-08-25T16:29:11Z</dcterms:created>
  <dcterms:modified xsi:type="dcterms:W3CDTF">2026-08-25T16:32:47Z</dcterms:modified>
</cp:coreProperties>
</file>